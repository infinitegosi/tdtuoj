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Chào Hội đồng. Giới thiệu tên, đề tài. Phần trình bày tập trung vào các cơ sở lý thuyết đã vận dụng để xây dựng TDTUOJ.</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Nêu nhanh khoảng trống: các OJ công cộng không có quản lý tổ chức, phân quyền theo vai trò đào tạo, LLM hỗ trợ học tập. TDTUOJ lấp khoảng trống đó. Sau đó điểm qua 8 chủ đề lý thuyết.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Nhấn mạnh: chấm khách quan, tự động, phản hồi tức thì. Verdict trả về kèm thời gian thực thi và bộ nhớ sử dụng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Điểm hay để nói với Hội đồng: đây là lý do kiến trúc triển khai dùng VM Azure chứ không dùng PaaS — Judge0 cần privileged container và cgroup. Tự triển khai nên hệ thống vận hành độc lập, không phụ thuộc API có phí.</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Nếu Hội đồng hỏi vì sao chọn phân tầng: dễ kiểm thử từng lớp, dễ thay thế thành phần (ví dụ đổi LLM provider), filter chain áp dụng nhất quán cho mọi request.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Nhấn mạnh hai vai trò của Redis: hàng đợi bài nộp và cache leaderboard. Đây là câu trả lời cho yêu cầu phi chức năng về hiệu năng ở Chương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Luồng: đăng nhập → cấp token → mỗi request qua AuthFilter kiểm tra chữ ký, nạp người dùng, thiết lập security context. Nếu bị hỏi refresh token: access token hạn ngắn, refresh token hạn dài hơn.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Ví dụ tier: nộp bài 10 request/phút với người đã đăng nhập, LLM chặn hoàn toàn người ẩn danh. Có metrics (chấp nhận/từ chối/lỗi Redis) đưa vào Grafana giám sát.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Slide quan trọng — công thức khớp Chương 5 của khóa luận. Chạy bất đồng bộ khi mọi bài đã chấm xong; lưu RatingHistory (điểm trước/sau, delta, hạng); tính lại cuộc thi cũ thì phải tính lại cả chuỗi lịch sử phía sau để nhất quán.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Đây là đóng góp khoa học chính của đề tài — hướng ít xuất hiện ở các OJ hiện hành. Nhấn: một endpoint duy nhất POST /api/visualize, hỗ trợ 6 ngôn ngữ, stdout của người dùng giữ nguyên, vết đi qua stderr có dấu hiệu nhận biết.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Nhấn triết lý: LLM là trợ giảng kích thích tư duy, không thay thế quá trình giải bài. Prompt có cấu trúc xây ở backend, ngữ cảnh đề bài + giới hạn + ví dụ được nhúng vào.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Chốt: hệ thống đã triển khai thực tế trên Azure (api.tdtuoj.me), có CI/CD, kiểm thử tải k6 và giám sát Prometheus/Grafana — sẵn sàng demo nếu Hội đồng yêu cầu.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2011680"/>
            <a:ext cx="10360152" cy="1463040"/>
          </a:xfrm>
          <a:prstGeom prst="rect">
            <a:avLst/>
          </a:prstGeom>
          <a:noFill/>
        </p:spPr>
        <p:txBody>
          <a:bodyPr wrap="square" anchor="ctr">
            <a:spAutoFit/>
          </a:bodyPr>
          <a:lstStyle/>
          <a:p>
            <a:pPr algn="ctr"/>
            <a:r>
              <a:rPr sz="3000" b="1" i="0">
                <a:solidFill>
                  <a:srgbClr val="000000"/>
                </a:solidFill>
                <a:latin typeface="Times New Roman"/>
              </a:rPr>
              <a:t>Hệ thống chấm bài trực tuyến cho lập trình thi đấu</a:t>
            </a:r>
          </a:p>
          <a:p>
            <a:pPr algn="ctr">
              <a:spcBef>
                <a:spcPts val="800"/>
              </a:spcBef>
            </a:pPr>
            <a:r>
              <a:rPr sz="1800" b="0" i="1">
                <a:solidFill>
                  <a:srgbClr val="555555"/>
                </a:solidFill>
                <a:latin typeface="Times New Roman"/>
              </a:rPr>
              <a:t>Cơ sở lý thuyết của hệ thống TDTUOJ</a:t>
            </a:r>
          </a:p>
        </p:txBody>
      </p:sp>
      <p:sp>
        <p:nvSpPr>
          <p:cNvPr id="3" name="TextBox 2"/>
          <p:cNvSpPr txBox="1"/>
          <p:nvPr/>
        </p:nvSpPr>
        <p:spPr>
          <a:xfrm>
            <a:off x="914400" y="4023360"/>
            <a:ext cx="10360152" cy="1828800"/>
          </a:xfrm>
          <a:prstGeom prst="rect">
            <a:avLst/>
          </a:prstGeom>
          <a:noFill/>
        </p:spPr>
        <p:txBody>
          <a:bodyPr wrap="square">
            <a:spAutoFit/>
          </a:bodyPr>
          <a:lstStyle/>
          <a:p>
            <a:pPr algn="ctr">
              <a:spcAft>
                <a:spcPts val="400"/>
              </a:spcAft>
            </a:pPr>
            <a:r>
              <a:rPr sz="1400" b="0" i="0">
                <a:solidFill>
                  <a:srgbClr val="000000"/>
                </a:solidFill>
                <a:latin typeface="Times New Roman"/>
              </a:rPr>
              <a:t>Sinh viên thực hiện: Hồ Khang</a:t>
            </a:r>
          </a:p>
          <a:p>
            <a:pPr algn="ctr">
              <a:spcAft>
                <a:spcPts val="400"/>
              </a:spcAft>
            </a:pPr>
            <a:r>
              <a:rPr sz="1400" b="0" i="0">
                <a:solidFill>
                  <a:srgbClr val="555555"/>
                </a:solidFill>
                <a:latin typeface="Times New Roman"/>
              </a:rPr>
              <a:t>Khoa Công nghệ Thông tin – Trường Đại học Tôn Đức Thắng</a:t>
            </a:r>
          </a:p>
          <a:p>
            <a:pPr algn="ctr">
              <a:spcAft>
                <a:spcPts val="400"/>
              </a:spcAft>
            </a:pPr>
            <a:r>
              <a:rPr sz="1400" b="0" i="0">
                <a:solidFill>
                  <a:srgbClr val="555555"/>
                </a:solidFill>
                <a:latin typeface="Times New Roman"/>
              </a:rPr>
              <a:t>Bảo vệ khóa luận tốt nghiệp</a:t>
            </a:r>
          </a:p>
        </p:txBody>
      </p:sp>
      <p:sp>
        <p:nvSpPr>
          <p:cNvPr id="4" name="Rectangle 3"/>
          <p:cNvSpPr/>
          <p:nvPr/>
        </p:nvSpPr>
        <p:spPr>
          <a:xfrm>
            <a:off x="3803904" y="3794760"/>
            <a:ext cx="457200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822960"/>
          </a:xfrm>
          <a:prstGeom prst="rect">
            <a:avLst/>
          </a:prstGeom>
          <a:noFill/>
        </p:spPr>
        <p:txBody>
          <a:bodyPr wrap="square">
            <a:spAutoFit/>
          </a:bodyPr>
          <a:lstStyle/>
          <a:p>
            <a:r>
              <a:rPr sz="2400" b="1" i="0">
                <a:solidFill>
                  <a:srgbClr val="000000"/>
                </a:solidFill>
                <a:latin typeface="Times New Roman"/>
              </a:rPr>
              <a:t>Bối cảnh và nội dung trình bày</a:t>
            </a:r>
          </a:p>
        </p:txBody>
      </p:sp>
      <p:sp>
        <p:nvSpPr>
          <p:cNvPr id="3" name="Rectangle 2"/>
          <p:cNvSpPr/>
          <p:nvPr/>
        </p:nvSpPr>
        <p:spPr>
          <a:xfrm>
            <a:off x="640080" y="1143000"/>
            <a:ext cx="1088136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5120640"/>
          </a:xfrm>
          <a:prstGeom prst="rect">
            <a:avLst/>
          </a:prstGeom>
          <a:noFill/>
        </p:spPr>
        <p:txBody>
          <a:bodyPr wrap="square">
            <a:spAutoFit/>
          </a:bodyPr>
          <a:lstStyle/>
          <a:p>
            <a:pPr>
              <a:spcBef>
                <a:spcPts val="1000"/>
              </a:spcBef>
              <a:spcAft>
                <a:spcPts val="300"/>
              </a:spcAft>
            </a:pPr>
            <a:r>
              <a:rPr sz="1700" b="1" i="0">
                <a:solidFill>
                  <a:srgbClr val="000000"/>
                </a:solidFill>
                <a:latin typeface="Times New Roman"/>
              </a:rPr>
              <a:t>Bối cảnh</a:t>
            </a:r>
          </a:p>
          <a:p>
            <a:pPr lvl="1">
              <a:spcAft>
                <a:spcPts val="300"/>
              </a:spcAft>
            </a:pPr>
            <a:r>
              <a:rPr sz="1600" b="0" i="0">
                <a:solidFill>
                  <a:srgbClr val="000000"/>
                </a:solidFill>
                <a:latin typeface="Times New Roman"/>
              </a:rPr>
              <a:t>– Chấm bài thủ công tốn thời gian, khó nhất quán khi số sinh viên tăng.</a:t>
            </a:r>
          </a:p>
          <a:p>
            <a:pPr lvl="1">
              <a:spcAft>
                <a:spcPts val="300"/>
              </a:spcAft>
            </a:pPr>
            <a:r>
              <a:rPr sz="1600" b="0" i="0">
                <a:solidFill>
                  <a:srgbClr val="000000"/>
                </a:solidFill>
                <a:latin typeface="Times New Roman"/>
              </a:rPr>
              <a:t>– Các nền tảng hiện có (Codeforces, LeetCode, VNOJ) không phục vụ quản lý lớp học, phân quyền giảng viên/sinh viên và vận hành nội bộ.</a:t>
            </a:r>
          </a:p>
          <a:p>
            <a:pPr>
              <a:spcBef>
                <a:spcPts val="1000"/>
              </a:spcBef>
              <a:spcAft>
                <a:spcPts val="300"/>
              </a:spcAft>
            </a:pPr>
            <a:r>
              <a:rPr sz="1700" b="1" i="0">
                <a:solidFill>
                  <a:srgbClr val="000000"/>
                </a:solidFill>
                <a:latin typeface="Times New Roman"/>
              </a:rPr>
              <a:t>Nội dung trình bày</a:t>
            </a:r>
          </a:p>
          <a:p>
            <a:pPr>
              <a:spcAft>
                <a:spcPts val="500"/>
              </a:spcAft>
            </a:pPr>
            <a:r>
              <a:rPr sz="1600" b="0" i="0">
                <a:solidFill>
                  <a:srgbClr val="000000"/>
                </a:solidFill>
                <a:latin typeface="Times New Roman"/>
              </a:rPr>
              <a:t>1. Bài toán chấm bài tự động và cơ chế phán quyết</a:t>
            </a:r>
          </a:p>
          <a:p>
            <a:pPr>
              <a:spcAft>
                <a:spcPts val="500"/>
              </a:spcAft>
            </a:pPr>
            <a:r>
              <a:rPr sz="1600" b="0" i="0">
                <a:solidFill>
                  <a:srgbClr val="000000"/>
                </a:solidFill>
                <a:latin typeface="Times New Roman"/>
              </a:rPr>
              <a:t>2. Cô lập thực thi trong sandbox (Judge0)</a:t>
            </a:r>
          </a:p>
          <a:p>
            <a:pPr>
              <a:spcAft>
                <a:spcPts val="500"/>
              </a:spcAft>
            </a:pPr>
            <a:r>
              <a:rPr sz="1600" b="0" i="0">
                <a:solidFill>
                  <a:srgbClr val="000000"/>
                </a:solidFill>
                <a:latin typeface="Times New Roman"/>
              </a:rPr>
              <a:t>3. Kiến trúc phân tầng, REST không trạng thái</a:t>
            </a:r>
          </a:p>
          <a:p>
            <a:pPr>
              <a:spcAft>
                <a:spcPts val="500"/>
              </a:spcAft>
            </a:pPr>
            <a:r>
              <a:rPr sz="1600" b="0" i="0">
                <a:solidFill>
                  <a:srgbClr val="000000"/>
                </a:solidFill>
                <a:latin typeface="Times New Roman"/>
              </a:rPr>
              <a:t>4. Xử lý chấm bài bất đồng bộ (hàng đợi – worker)</a:t>
            </a:r>
          </a:p>
          <a:p>
            <a:pPr>
              <a:spcAft>
                <a:spcPts val="500"/>
              </a:spcAft>
            </a:pPr>
            <a:r>
              <a:rPr sz="1600" b="0" i="0">
                <a:solidFill>
                  <a:srgbClr val="000000"/>
                </a:solidFill>
                <a:latin typeface="Times New Roman"/>
              </a:rPr>
              <a:t>5. Xác thực, phân quyền (JWT, RBAC) và giới hạn tần suất</a:t>
            </a:r>
          </a:p>
          <a:p>
            <a:pPr>
              <a:spcAft>
                <a:spcPts val="500"/>
              </a:spcAft>
            </a:pPr>
            <a:r>
              <a:rPr sz="1600" b="0" i="0">
                <a:solidFill>
                  <a:srgbClr val="000000"/>
                </a:solidFill>
                <a:latin typeface="Times New Roman"/>
              </a:rPr>
              <a:t>6. Mô hình tính điểm cuộc thi và đánh giá năng lực</a:t>
            </a:r>
          </a:p>
          <a:p>
            <a:pPr>
              <a:spcAft>
                <a:spcPts val="500"/>
              </a:spcAft>
            </a:pPr>
            <a:r>
              <a:rPr sz="1600" b="0" i="0">
                <a:solidFill>
                  <a:srgbClr val="000000"/>
                </a:solidFill>
                <a:latin typeface="Times New Roman"/>
              </a:rPr>
              <a:t>7. Trực quan hóa cấu trúc dữ liệu bằng chèn mã đo đạc</a:t>
            </a:r>
          </a:p>
          <a:p>
            <a:pPr>
              <a:spcAft>
                <a:spcPts val="500"/>
              </a:spcAft>
            </a:pPr>
            <a:r>
              <a:rPr sz="1600" b="0" i="0">
                <a:solidFill>
                  <a:srgbClr val="000000"/>
                </a:solidFill>
                <a:latin typeface="Times New Roman"/>
              </a:rPr>
              <a:t>8. Tích hợp mô hình ngôn ngữ lớn (LLM)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822960"/>
          </a:xfrm>
          <a:prstGeom prst="rect">
            <a:avLst/>
          </a:prstGeom>
          <a:noFill/>
        </p:spPr>
        <p:txBody>
          <a:bodyPr wrap="square">
            <a:spAutoFit/>
          </a:bodyPr>
          <a:lstStyle/>
          <a:p>
            <a:r>
              <a:rPr sz="2400" b="1" i="0">
                <a:solidFill>
                  <a:srgbClr val="000000"/>
                </a:solidFill>
                <a:latin typeface="Times New Roman"/>
              </a:rPr>
              <a:t>1. Bài toán chấm bài tự động</a:t>
            </a:r>
          </a:p>
        </p:txBody>
      </p:sp>
      <p:sp>
        <p:nvSpPr>
          <p:cNvPr id="3" name="Rectangle 2"/>
          <p:cNvSpPr/>
          <p:nvPr/>
        </p:nvSpPr>
        <p:spPr>
          <a:xfrm>
            <a:off x="640080" y="1143000"/>
            <a:ext cx="1088136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5120640"/>
          </a:xfrm>
          <a:prstGeom prst="rect">
            <a:avLst/>
          </a:prstGeom>
          <a:noFill/>
        </p:spPr>
        <p:txBody>
          <a:bodyPr wrap="square">
            <a:spAutoFit/>
          </a:bodyPr>
          <a:lstStyle/>
          <a:p>
            <a:pPr>
              <a:spcAft>
                <a:spcPts val="400"/>
              </a:spcAft>
            </a:pPr>
            <a:r>
              <a:rPr sz="1600" b="0" i="0">
                <a:solidFill>
                  <a:srgbClr val="000000"/>
                </a:solidFill>
                <a:latin typeface="Times New Roman"/>
              </a:rPr>
              <a:t>Định nghĩa. Online Judge nhận mã nguồn, biên dịch và thực thi trên bộ dữ liệu kiểm thử, so khớp kết quả với đáp án mẫu để kết luận.</a:t>
            </a:r>
          </a:p>
          <a:p>
            <a:pPr>
              <a:spcBef>
                <a:spcPts val="1000"/>
              </a:spcBef>
              <a:spcAft>
                <a:spcPts val="300"/>
              </a:spcAft>
            </a:pPr>
            <a:r>
              <a:rPr sz="1700" b="1" i="0">
                <a:solidFill>
                  <a:srgbClr val="000000"/>
                </a:solidFill>
                <a:latin typeface="Times New Roman"/>
              </a:rPr>
              <a:t>Nguyên lý chấm dựa trên ca kiểm thử (test-case based)</a:t>
            </a:r>
          </a:p>
          <a:p>
            <a:pPr lvl="1">
              <a:spcAft>
                <a:spcPts val="300"/>
              </a:spcAft>
            </a:pPr>
            <a:r>
              <a:rPr sz="1600" b="0" i="0">
                <a:solidFill>
                  <a:srgbClr val="000000"/>
                </a:solidFill>
                <a:latin typeface="Times New Roman"/>
              </a:rPr>
              <a:t>– Mỗi bài toán gắn với tập ca kiểm thử (đầu vào → đầu ra kỳ vọng).</a:t>
            </a:r>
          </a:p>
          <a:p>
            <a:pPr lvl="1">
              <a:spcAft>
                <a:spcPts val="300"/>
              </a:spcAft>
            </a:pPr>
            <a:r>
              <a:rPr sz="1600" b="0" i="0">
                <a:solidFill>
                  <a:srgbClr val="000000"/>
                </a:solidFill>
                <a:latin typeface="Times New Roman"/>
              </a:rPr>
              <a:t>– Lời giải đúng khi qua toàn bộ ca kiểm thử trong giới hạn thời gian và bộ nhớ.</a:t>
            </a:r>
          </a:p>
          <a:p>
            <a:pPr lvl="1">
              <a:spcAft>
                <a:spcPts val="300"/>
              </a:spcAft>
            </a:pPr>
            <a:r>
              <a:rPr sz="1600" b="0" i="0">
                <a:solidFill>
                  <a:srgbClr val="000000"/>
                </a:solidFill>
                <a:latin typeface="Times New Roman"/>
              </a:rPr>
              <a:t>– Hỗ trợ sáu ngôn ngữ: C, C++, C#, Java, JavaScript, Python.</a:t>
            </a:r>
          </a:p>
          <a:p>
            <a:pPr>
              <a:spcBef>
                <a:spcPts val="1000"/>
              </a:spcBef>
              <a:spcAft>
                <a:spcPts val="300"/>
              </a:spcAft>
            </a:pPr>
            <a:r>
              <a:rPr sz="1700" b="1" i="0">
                <a:solidFill>
                  <a:srgbClr val="000000"/>
                </a:solidFill>
                <a:latin typeface="Times New Roman"/>
              </a:rPr>
              <a:t>Các phán quyết (verdict)</a:t>
            </a:r>
          </a:p>
          <a:p>
            <a:pPr lvl="1">
              <a:spcAft>
                <a:spcPts val="300"/>
              </a:spcAft>
            </a:pPr>
            <a:r>
              <a:rPr sz="1600" b="0" i="0">
                <a:solidFill>
                  <a:srgbClr val="000000"/>
                </a:solidFill>
                <a:latin typeface="Times New Roman"/>
              </a:rPr>
              <a:t>– AC (Accepted), WA (Wrong Answer), TLE (Time Limit Exceeded), MLE (Memory Limit Exceeded), RE/SF (Runtime Error), CE (Compile Error), IE (Internal Error).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822960"/>
          </a:xfrm>
          <a:prstGeom prst="rect">
            <a:avLst/>
          </a:prstGeom>
          <a:noFill/>
        </p:spPr>
        <p:txBody>
          <a:bodyPr wrap="square">
            <a:spAutoFit/>
          </a:bodyPr>
          <a:lstStyle/>
          <a:p>
            <a:r>
              <a:rPr sz="2400" b="1" i="0">
                <a:solidFill>
                  <a:srgbClr val="000000"/>
                </a:solidFill>
                <a:latin typeface="Times New Roman"/>
              </a:rPr>
              <a:t>2. Cô lập thực thi trong sandbox</a:t>
            </a:r>
          </a:p>
        </p:txBody>
      </p:sp>
      <p:sp>
        <p:nvSpPr>
          <p:cNvPr id="3" name="Rectangle 2"/>
          <p:cNvSpPr/>
          <p:nvPr/>
        </p:nvSpPr>
        <p:spPr>
          <a:xfrm>
            <a:off x="640080" y="1143000"/>
            <a:ext cx="1088136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5120640"/>
          </a:xfrm>
          <a:prstGeom prst="rect">
            <a:avLst/>
          </a:prstGeom>
          <a:noFill/>
        </p:spPr>
        <p:txBody>
          <a:bodyPr wrap="square">
            <a:spAutoFit/>
          </a:bodyPr>
          <a:lstStyle/>
          <a:p>
            <a:pPr>
              <a:spcAft>
                <a:spcPts val="400"/>
              </a:spcAft>
            </a:pPr>
            <a:r>
              <a:rPr sz="1600" b="0" i="0">
                <a:solidFill>
                  <a:srgbClr val="000000"/>
                </a:solidFill>
                <a:latin typeface="Times New Roman"/>
              </a:rPr>
              <a:t>Vấn đề. Thực thi mã nguồn không tin cậy trên máy chủ ⇒ rủi ro bảo mật và tranh chấp tài nguyên.</a:t>
            </a:r>
          </a:p>
          <a:p>
            <a:pPr>
              <a:spcBef>
                <a:spcPts val="1000"/>
              </a:spcBef>
              <a:spcAft>
                <a:spcPts val="300"/>
              </a:spcAft>
            </a:pPr>
            <a:r>
              <a:rPr sz="1700" b="1" i="0">
                <a:solidFill>
                  <a:srgbClr val="000000"/>
                </a:solidFill>
                <a:latin typeface="Times New Roman"/>
              </a:rPr>
              <a:t>Cơ chế cô lập (isolation) ở mức nhân hệ điều hành</a:t>
            </a:r>
          </a:p>
          <a:p>
            <a:pPr lvl="1">
              <a:spcAft>
                <a:spcPts val="300"/>
              </a:spcAft>
            </a:pPr>
            <a:r>
              <a:rPr sz="1600" b="0" i="0">
                <a:solidFill>
                  <a:srgbClr val="000000"/>
                </a:solidFill>
                <a:latin typeface="Times New Roman"/>
              </a:rPr>
              <a:t>– cgroups: giới hạn CPU, bộ nhớ, số tiến trình cho từng lần chấm.</a:t>
            </a:r>
          </a:p>
          <a:p>
            <a:pPr lvl="1">
              <a:spcAft>
                <a:spcPts val="300"/>
              </a:spcAft>
            </a:pPr>
            <a:r>
              <a:rPr sz="1600" b="0" i="0">
                <a:solidFill>
                  <a:srgbClr val="000000"/>
                </a:solidFill>
                <a:latin typeface="Times New Roman"/>
              </a:rPr>
              <a:t>– namespaces: tách biệt hệ thống tập tin, mạng, cây tiến trình.</a:t>
            </a:r>
          </a:p>
          <a:p>
            <a:pPr lvl="1">
              <a:spcAft>
                <a:spcPts val="300"/>
              </a:spcAft>
            </a:pPr>
            <a:r>
              <a:rPr sz="1600" b="0" i="0">
                <a:solidFill>
                  <a:srgbClr val="000000"/>
                </a:solidFill>
                <a:latin typeface="Times New Roman"/>
              </a:rPr>
              <a:t>– Mỗi bài nộp chạy trong hộp cát riêng, không ảnh hưởng lẫn nhau.</a:t>
            </a:r>
          </a:p>
          <a:p>
            <a:pPr>
              <a:spcBef>
                <a:spcPts val="1000"/>
              </a:spcBef>
              <a:spcAft>
                <a:spcPts val="300"/>
              </a:spcAft>
            </a:pPr>
            <a:r>
              <a:rPr sz="1700" b="1" i="0">
                <a:solidFill>
                  <a:srgbClr val="000000"/>
                </a:solidFill>
                <a:latin typeface="Times New Roman"/>
              </a:rPr>
              <a:t>Áp dụng: Judge0 tự triển khai (self-hosted) qua Docker</a:t>
            </a:r>
          </a:p>
          <a:p>
            <a:pPr lvl="1">
              <a:spcAft>
                <a:spcPts val="300"/>
              </a:spcAft>
            </a:pPr>
            <a:r>
              <a:rPr sz="1600" b="0" i="0">
                <a:solidFill>
                  <a:srgbClr val="000000"/>
                </a:solidFill>
                <a:latin typeface="Times New Roman"/>
              </a:rPr>
              <a:t>– Container đặc quyền (privileged) để tạo sandbox isolate; đo chính xác thời gian và bộ nhớ.</a:t>
            </a:r>
          </a:p>
          <a:p>
            <a:pPr lvl="1">
              <a:spcAft>
                <a:spcPts val="300"/>
              </a:spcAft>
            </a:pPr>
            <a:r>
              <a:rPr sz="1600" b="0" i="0">
                <a:solidFill>
                  <a:srgbClr val="000000"/>
                </a:solidFill>
                <a:latin typeface="Times New Roman"/>
              </a:rPr>
              <a:t>– Yêu cầu quyền điều khiển cgroup ở mức nhân ⇒ triển khai trên máy ảo thay vì nền tảng PaaS đóng gói sẵn.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822960"/>
          </a:xfrm>
          <a:prstGeom prst="rect">
            <a:avLst/>
          </a:prstGeom>
          <a:noFill/>
        </p:spPr>
        <p:txBody>
          <a:bodyPr wrap="square">
            <a:spAutoFit/>
          </a:bodyPr>
          <a:lstStyle/>
          <a:p>
            <a:r>
              <a:rPr sz="2400" b="1" i="0">
                <a:solidFill>
                  <a:srgbClr val="000000"/>
                </a:solidFill>
                <a:latin typeface="Times New Roman"/>
              </a:rPr>
              <a:t>3. Kiến trúc phân tầng và REST không trạng thái</a:t>
            </a:r>
          </a:p>
        </p:txBody>
      </p:sp>
      <p:sp>
        <p:nvSpPr>
          <p:cNvPr id="3" name="Rectangle 2"/>
          <p:cNvSpPr/>
          <p:nvPr/>
        </p:nvSpPr>
        <p:spPr>
          <a:xfrm>
            <a:off x="640080" y="1143000"/>
            <a:ext cx="1088136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5120640"/>
          </a:xfrm>
          <a:prstGeom prst="rect">
            <a:avLst/>
          </a:prstGeom>
          <a:noFill/>
        </p:spPr>
        <p:txBody>
          <a:bodyPr wrap="square">
            <a:spAutoFit/>
          </a:bodyPr>
          <a:lstStyle/>
          <a:p>
            <a:pPr>
              <a:spcBef>
                <a:spcPts val="1000"/>
              </a:spcBef>
              <a:spcAft>
                <a:spcPts val="300"/>
              </a:spcAft>
            </a:pPr>
            <a:r>
              <a:rPr sz="1700" b="1" i="0">
                <a:solidFill>
                  <a:srgbClr val="000000"/>
                </a:solidFill>
                <a:latin typeface="Times New Roman"/>
              </a:rPr>
              <a:t>Mô hình client–server nhiều tầng</a:t>
            </a:r>
          </a:p>
          <a:p>
            <a:pPr lvl="1">
              <a:spcAft>
                <a:spcPts val="300"/>
              </a:spcAft>
            </a:pPr>
            <a:r>
              <a:rPr sz="1600" b="0" i="0">
                <a:solidFill>
                  <a:srgbClr val="000000"/>
                </a:solidFill>
                <a:latin typeface="Times New Roman"/>
              </a:rPr>
              <a:t>– Tầng trình bày (React SPA) – Tầng nghiệp vụ (Spring Boot) – Tầng dữ liệu (PostgreSQL, Redis, S3).</a:t>
            </a:r>
          </a:p>
          <a:p>
            <a:pPr lvl="1">
              <a:spcAft>
                <a:spcPts val="300"/>
              </a:spcAft>
            </a:pPr>
            <a:r>
              <a:rPr sz="1600" b="0" i="0">
                <a:solidFill>
                  <a:srgbClr val="000000"/>
                </a:solidFill>
                <a:latin typeface="Times New Roman"/>
              </a:rPr>
              <a:t>– Trong backend: Controller → Service → Repository, tách biệt trách nhiệm rõ ràng.</a:t>
            </a:r>
          </a:p>
          <a:p>
            <a:pPr>
              <a:spcBef>
                <a:spcPts val="1000"/>
              </a:spcBef>
              <a:spcAft>
                <a:spcPts val="300"/>
              </a:spcAft>
            </a:pPr>
            <a:r>
              <a:rPr sz="1700" b="1" i="0">
                <a:solidFill>
                  <a:srgbClr val="000000"/>
                </a:solidFill>
                <a:latin typeface="Times New Roman"/>
              </a:rPr>
              <a:t>Nguyên lý REST</a:t>
            </a:r>
          </a:p>
          <a:p>
            <a:pPr lvl="1">
              <a:spcAft>
                <a:spcPts val="300"/>
              </a:spcAft>
            </a:pPr>
            <a:r>
              <a:rPr sz="1600" b="0" i="0">
                <a:solidFill>
                  <a:srgbClr val="000000"/>
                </a:solidFill>
                <a:latin typeface="Times New Roman"/>
              </a:rPr>
              <a:t>– Giao tiếp không trạng thái (stateless): mỗi request tự chứa đủ thông tin.</a:t>
            </a:r>
          </a:p>
          <a:p>
            <a:pPr lvl="1">
              <a:spcAft>
                <a:spcPts val="300"/>
              </a:spcAft>
            </a:pPr>
            <a:r>
              <a:rPr sz="1600" b="0" i="0">
                <a:solidFill>
                  <a:srgbClr val="000000"/>
                </a:solidFill>
                <a:latin typeface="Times New Roman"/>
              </a:rPr>
              <a:t>– Tài nguyên định danh qua URI; thao tác qua phương thức HTTP (GET/POST/PUT/DELETE); dữ liệu JSON.</a:t>
            </a:r>
          </a:p>
          <a:p>
            <a:pPr lvl="1">
              <a:spcAft>
                <a:spcPts val="300"/>
              </a:spcAft>
            </a:pPr>
            <a:r>
              <a:rPr sz="1600" b="0" i="0">
                <a:solidFill>
                  <a:srgbClr val="000000"/>
                </a:solidFill>
                <a:latin typeface="Times New Roman"/>
              </a:rPr>
              <a:t>– Không lưu phiên trên máy chủ ⇒ dễ mở rộng theo chiều ngang.</a:t>
            </a:r>
          </a:p>
          <a:p>
            <a:pPr>
              <a:spcBef>
                <a:spcPts val="1000"/>
              </a:spcBef>
              <a:spcAft>
                <a:spcPts val="300"/>
              </a:spcAft>
            </a:pPr>
            <a:r>
              <a:rPr sz="1700" b="1" i="0">
                <a:solidFill>
                  <a:srgbClr val="000000"/>
                </a:solidFill>
                <a:latin typeface="Times New Roman"/>
              </a:rPr>
              <a:t>Lợi ích</a:t>
            </a:r>
          </a:p>
          <a:p>
            <a:pPr lvl="1">
              <a:spcAft>
                <a:spcPts val="300"/>
              </a:spcAft>
            </a:pPr>
            <a:r>
              <a:rPr sz="1600" b="0" i="0">
                <a:solidFill>
                  <a:srgbClr val="000000"/>
                </a:solidFill>
                <a:latin typeface="Times New Roman"/>
              </a:rPr>
              <a:t>– Frontend và backend phát triển, triển khai độc lập; bảo mật và rate limit cài dưới dạng filter, không xen vào mã nghiệp vụ.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822960"/>
          </a:xfrm>
          <a:prstGeom prst="rect">
            <a:avLst/>
          </a:prstGeom>
          <a:noFill/>
        </p:spPr>
        <p:txBody>
          <a:bodyPr wrap="square">
            <a:spAutoFit/>
          </a:bodyPr>
          <a:lstStyle/>
          <a:p>
            <a:r>
              <a:rPr sz="2400" b="1" i="0">
                <a:solidFill>
                  <a:srgbClr val="000000"/>
                </a:solidFill>
                <a:latin typeface="Times New Roman"/>
              </a:rPr>
              <a:t>4. Xử lý chấm bài bất đồng bộ</a:t>
            </a:r>
          </a:p>
        </p:txBody>
      </p:sp>
      <p:sp>
        <p:nvSpPr>
          <p:cNvPr id="3" name="Rectangle 2"/>
          <p:cNvSpPr/>
          <p:nvPr/>
        </p:nvSpPr>
        <p:spPr>
          <a:xfrm>
            <a:off x="640080" y="1143000"/>
            <a:ext cx="1088136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5120640"/>
          </a:xfrm>
          <a:prstGeom prst="rect">
            <a:avLst/>
          </a:prstGeom>
          <a:noFill/>
        </p:spPr>
        <p:txBody>
          <a:bodyPr wrap="square">
            <a:spAutoFit/>
          </a:bodyPr>
          <a:lstStyle/>
          <a:p>
            <a:pPr>
              <a:spcAft>
                <a:spcPts val="400"/>
              </a:spcAft>
            </a:pPr>
            <a:r>
              <a:rPr sz="1600" b="0" i="0">
                <a:solidFill>
                  <a:srgbClr val="000000"/>
                </a:solidFill>
                <a:latin typeface="Times New Roman"/>
              </a:rPr>
              <a:t>Vấn đề. Chấm bài tốn thời gian (biên dịch + chạy nhiều ca kiểm thử) ⇒ không thể giữ kết nối HTTP chờ đồng bộ.</a:t>
            </a:r>
          </a:p>
          <a:p>
            <a:pPr>
              <a:spcBef>
                <a:spcPts val="1000"/>
              </a:spcBef>
              <a:spcAft>
                <a:spcPts val="300"/>
              </a:spcAft>
            </a:pPr>
            <a:r>
              <a:rPr sz="1700" b="1" i="0">
                <a:solidFill>
                  <a:srgbClr val="000000"/>
                </a:solidFill>
                <a:latin typeface="Times New Roman"/>
              </a:rPr>
              <a:t>Mô hình hàng đợi – worker (producer–consumer)</a:t>
            </a:r>
          </a:p>
          <a:p>
            <a:pPr lvl="1">
              <a:spcAft>
                <a:spcPts val="300"/>
              </a:spcAft>
            </a:pPr>
            <a:r>
              <a:rPr sz="1600" b="0" i="0">
                <a:solidFill>
                  <a:srgbClr val="000000"/>
                </a:solidFill>
                <a:latin typeface="Times New Roman"/>
              </a:rPr>
              <a:t>– Bài nộp được lưu ngay với trạng thái PENDING và đẩy vào hàng đợi Redis; phản hồi người dùng tức thì.</a:t>
            </a:r>
          </a:p>
          <a:p>
            <a:pPr lvl="1">
              <a:spcAft>
                <a:spcPts val="300"/>
              </a:spcAft>
            </a:pPr>
            <a:r>
              <a:rPr sz="1600" b="0" i="0">
                <a:solidFill>
                  <a:srgbClr val="000000"/>
                </a:solidFill>
                <a:latin typeface="Times New Roman"/>
              </a:rPr>
              <a:t>– Worker nền lấy công việc khỏi hàng đợi, gửi sang Judge0, cập nhật JUDGING → COMPLETED; frontend nhận kết quả qua polling.</a:t>
            </a:r>
          </a:p>
          <a:p>
            <a:pPr lvl="1">
              <a:spcAft>
                <a:spcPts val="300"/>
              </a:spcAft>
            </a:pPr>
            <a:r>
              <a:rPr sz="1600" b="0" i="0">
                <a:solidFill>
                  <a:srgbClr val="000000"/>
                </a:solidFill>
                <a:latin typeface="Times New Roman"/>
              </a:rPr>
              <a:t>– Tách rời tốc độ tiếp nhận và tốc độ xử lý ⇒ chịu được đỉnh tải khi nhiều người nộp cùng lúc.</a:t>
            </a:r>
          </a:p>
          <a:p>
            <a:pPr>
              <a:spcBef>
                <a:spcPts val="1000"/>
              </a:spcBef>
              <a:spcAft>
                <a:spcPts val="300"/>
              </a:spcAft>
            </a:pPr>
            <a:r>
              <a:rPr sz="1700" b="1" i="0">
                <a:solidFill>
                  <a:srgbClr val="000000"/>
                </a:solidFill>
                <a:latin typeface="Times New Roman"/>
              </a:rPr>
              <a:t>Redis kiêm bộ nhớ đệm (cache)</a:t>
            </a:r>
          </a:p>
          <a:p>
            <a:pPr lvl="1">
              <a:spcAft>
                <a:spcPts val="300"/>
              </a:spcAft>
            </a:pPr>
            <a:r>
              <a:rPr sz="1600" b="0" i="0">
                <a:solidFill>
                  <a:srgbClr val="000000"/>
                </a:solidFill>
                <a:latin typeface="Times New Roman"/>
              </a:rPr>
              <a:t>– Bảng xếp hạng cuộc thi tính sẵn trên Redis, chỉ làm mới khi có bài nộp làm đổi thứ hạng ⇒ giảm truy vấn PostgreSQL.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822960"/>
          </a:xfrm>
          <a:prstGeom prst="rect">
            <a:avLst/>
          </a:prstGeom>
          <a:noFill/>
        </p:spPr>
        <p:txBody>
          <a:bodyPr wrap="square">
            <a:spAutoFit/>
          </a:bodyPr>
          <a:lstStyle/>
          <a:p>
            <a:r>
              <a:rPr sz="2400" b="1" i="0">
                <a:solidFill>
                  <a:srgbClr val="000000"/>
                </a:solidFill>
                <a:latin typeface="Times New Roman"/>
              </a:rPr>
              <a:t>5. Xác thực, phân quyền và bảo mật</a:t>
            </a:r>
          </a:p>
        </p:txBody>
      </p:sp>
      <p:sp>
        <p:nvSpPr>
          <p:cNvPr id="3" name="Rectangle 2"/>
          <p:cNvSpPr/>
          <p:nvPr/>
        </p:nvSpPr>
        <p:spPr>
          <a:xfrm>
            <a:off x="640080" y="1143000"/>
            <a:ext cx="1088136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5120640"/>
          </a:xfrm>
          <a:prstGeom prst="rect">
            <a:avLst/>
          </a:prstGeom>
          <a:noFill/>
        </p:spPr>
        <p:txBody>
          <a:bodyPr wrap="square">
            <a:spAutoFit/>
          </a:bodyPr>
          <a:lstStyle/>
          <a:p>
            <a:pPr>
              <a:spcBef>
                <a:spcPts val="1000"/>
              </a:spcBef>
              <a:spcAft>
                <a:spcPts val="300"/>
              </a:spcAft>
            </a:pPr>
            <a:r>
              <a:rPr sz="1700" b="1" i="0">
                <a:solidFill>
                  <a:srgbClr val="000000"/>
                </a:solidFill>
                <a:latin typeface="Times New Roman"/>
              </a:rPr>
              <a:t>Xác thực phi trạng thái bằng JWT (JSON Web Token)</a:t>
            </a:r>
          </a:p>
          <a:p>
            <a:pPr lvl="1">
              <a:spcAft>
                <a:spcPts val="300"/>
              </a:spcAft>
            </a:pPr>
            <a:r>
              <a:rPr sz="1600" b="0" i="0">
                <a:solidFill>
                  <a:srgbClr val="000000"/>
                </a:solidFill>
                <a:latin typeface="Times New Roman"/>
              </a:rPr>
              <a:t>– Token tự chứa (header.payload.signature), ký bằng HMAC-SHA256 để chống giả mạo.</a:t>
            </a:r>
          </a:p>
          <a:p>
            <a:pPr lvl="1">
              <a:spcAft>
                <a:spcPts val="300"/>
              </a:spcAft>
            </a:pPr>
            <a:r>
              <a:rPr sz="1600" b="0" i="0">
                <a:solidFill>
                  <a:srgbClr val="000000"/>
                </a:solidFill>
                <a:latin typeface="Times New Roman"/>
              </a:rPr>
              <a:t>– Gửi kèm header Authorization: Bearer; filter kiểm tra chữ ký và thời hạn, sai thì trả HTTP 401.</a:t>
            </a:r>
          </a:p>
          <a:p>
            <a:pPr lvl="1">
              <a:spcAft>
                <a:spcPts val="300"/>
              </a:spcAft>
            </a:pPr>
            <a:r>
              <a:rPr sz="1600" b="0" i="0">
                <a:solidFill>
                  <a:srgbClr val="000000"/>
                </a:solidFill>
                <a:latin typeface="Times New Roman"/>
              </a:rPr>
              <a:t>– Máy chủ không lưu phiên ⇒ chạy thêm nhiều máy chủ song song dễ dàng.</a:t>
            </a:r>
          </a:p>
          <a:p>
            <a:pPr>
              <a:spcBef>
                <a:spcPts val="1000"/>
              </a:spcBef>
              <a:spcAft>
                <a:spcPts val="300"/>
              </a:spcAft>
            </a:pPr>
            <a:r>
              <a:rPr sz="1700" b="1" i="0">
                <a:solidFill>
                  <a:srgbClr val="000000"/>
                </a:solidFill>
                <a:latin typeface="Times New Roman"/>
              </a:rPr>
              <a:t>Phân quyền theo vai trò (RBAC)</a:t>
            </a:r>
          </a:p>
          <a:p>
            <a:pPr lvl="1">
              <a:spcAft>
                <a:spcPts val="300"/>
              </a:spcAft>
            </a:pPr>
            <a:r>
              <a:rPr sz="1600" b="0" i="0">
                <a:solidFill>
                  <a:srgbClr val="000000"/>
                </a:solidFill>
                <a:latin typeface="Times New Roman"/>
              </a:rPr>
              <a:t>– Ba vai trò: ADMIN, CREATOR (giảng viên), PARTICIPANT (sinh viên).</a:t>
            </a:r>
          </a:p>
          <a:p>
            <a:pPr lvl="1">
              <a:spcAft>
                <a:spcPts val="300"/>
              </a:spcAft>
            </a:pPr>
            <a:r>
              <a:rPr sz="1600" b="0" i="0">
                <a:solidFill>
                  <a:srgbClr val="000000"/>
                </a:solidFill>
                <a:latin typeface="Times New Roman"/>
              </a:rPr>
              <a:t>– Kiểm soát ở mức phương thức bằng @PreAuthorize.</a:t>
            </a:r>
          </a:p>
          <a:p>
            <a:pPr>
              <a:spcBef>
                <a:spcPts val="1000"/>
              </a:spcBef>
              <a:spcAft>
                <a:spcPts val="300"/>
              </a:spcAft>
            </a:pPr>
            <a:r>
              <a:rPr sz="1700" b="1" i="0">
                <a:solidFill>
                  <a:srgbClr val="000000"/>
                </a:solidFill>
                <a:latin typeface="Times New Roman"/>
              </a:rPr>
              <a:t>Băm mật khẩu</a:t>
            </a:r>
          </a:p>
          <a:p>
            <a:pPr lvl="1">
              <a:spcAft>
                <a:spcPts val="300"/>
              </a:spcAft>
            </a:pPr>
            <a:r>
              <a:rPr sz="1600" b="0" i="0">
                <a:solidFill>
                  <a:srgbClr val="000000"/>
                </a:solidFill>
                <a:latin typeface="Times New Roman"/>
              </a:rPr>
              <a:t>– BCrypt – hàm băm một chiều có salt và hệ số chi phí, chống dò bảng cầu vồng (rainbow 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822960"/>
          </a:xfrm>
          <a:prstGeom prst="rect">
            <a:avLst/>
          </a:prstGeom>
          <a:noFill/>
        </p:spPr>
        <p:txBody>
          <a:bodyPr wrap="square">
            <a:spAutoFit/>
          </a:bodyPr>
          <a:lstStyle/>
          <a:p>
            <a:r>
              <a:rPr sz="2400" b="1" i="0">
                <a:solidFill>
                  <a:srgbClr val="000000"/>
                </a:solidFill>
                <a:latin typeface="Times New Roman"/>
              </a:rPr>
              <a:t>6. Giới hạn tần suất truy cập (rate limiting)</a:t>
            </a:r>
          </a:p>
        </p:txBody>
      </p:sp>
      <p:sp>
        <p:nvSpPr>
          <p:cNvPr id="3" name="Rectangle 2"/>
          <p:cNvSpPr/>
          <p:nvPr/>
        </p:nvSpPr>
        <p:spPr>
          <a:xfrm>
            <a:off x="640080" y="1143000"/>
            <a:ext cx="1088136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5120640"/>
          </a:xfrm>
          <a:prstGeom prst="rect">
            <a:avLst/>
          </a:prstGeom>
          <a:noFill/>
        </p:spPr>
        <p:txBody>
          <a:bodyPr wrap="square">
            <a:spAutoFit/>
          </a:bodyPr>
          <a:lstStyle/>
          <a:p>
            <a:pPr>
              <a:spcAft>
                <a:spcPts val="400"/>
              </a:spcAft>
            </a:pPr>
            <a:r>
              <a:rPr sz="1600" b="0" i="0">
                <a:solidFill>
                  <a:srgbClr val="000000"/>
                </a:solidFill>
                <a:latin typeface="Times New Roman"/>
              </a:rPr>
              <a:t>Mục tiêu. Bảo vệ tác vụ tốn tài nguyên (chấm bài, gọi LLM) trước lạm dụng, đảm bảo công bằng tài nguyên.</a:t>
            </a:r>
          </a:p>
          <a:p>
            <a:pPr>
              <a:spcBef>
                <a:spcPts val="1000"/>
              </a:spcBef>
              <a:spcAft>
                <a:spcPts val="300"/>
              </a:spcAft>
            </a:pPr>
            <a:r>
              <a:rPr sz="1700" b="1" i="0">
                <a:solidFill>
                  <a:srgbClr val="000000"/>
                </a:solidFill>
                <a:latin typeface="Times New Roman"/>
              </a:rPr>
              <a:t>Thuật toán token bucket (thư viện Bucket4j)</a:t>
            </a:r>
          </a:p>
          <a:p>
            <a:pPr lvl="1">
              <a:spcAft>
                <a:spcPts val="300"/>
              </a:spcAft>
            </a:pPr>
            <a:r>
              <a:rPr sz="1600" b="0" i="0">
                <a:solidFill>
                  <a:srgbClr val="000000"/>
                </a:solidFill>
                <a:latin typeface="Times New Roman"/>
              </a:rPr>
              <a:t>– Mỗi người dùng một “gáo” token, nạp lại theo tốc độ cố định; mỗi request tiêu một token.</a:t>
            </a:r>
          </a:p>
          <a:p>
            <a:pPr lvl="1">
              <a:spcAft>
                <a:spcPts val="300"/>
              </a:spcAft>
            </a:pPr>
            <a:r>
              <a:rPr sz="1600" b="0" i="0">
                <a:solidFill>
                  <a:srgbClr val="000000"/>
                </a:solidFill>
                <a:latin typeface="Times New Roman"/>
              </a:rPr>
              <a:t>– Hết token ⇒ HTTP 429 kèm Retry-After; cho phép bùng nổ ngắn hạn nhưng khống chế tốc độ trung bình.</a:t>
            </a:r>
          </a:p>
          <a:p>
            <a:pPr>
              <a:spcBef>
                <a:spcPts val="1000"/>
              </a:spcBef>
              <a:spcAft>
                <a:spcPts val="300"/>
              </a:spcAft>
            </a:pPr>
            <a:r>
              <a:rPr sz="1700" b="1" i="0">
                <a:solidFill>
                  <a:srgbClr val="000000"/>
                </a:solidFill>
                <a:latin typeface="Times New Roman"/>
              </a:rPr>
              <a:t>Thiết kế trong hệ thống</a:t>
            </a:r>
          </a:p>
          <a:p>
            <a:pPr lvl="1">
              <a:spcAft>
                <a:spcPts val="300"/>
              </a:spcAft>
            </a:pPr>
            <a:r>
              <a:rPr sz="1600" b="0" i="0">
                <a:solidFill>
                  <a:srgbClr val="000000"/>
                </a:solidFill>
                <a:latin typeface="Times New Roman"/>
              </a:rPr>
              <a:t>– Trạng thái bucket lưu tập trung trên Redis ⇒ hạn mức đồng nhất khi chạy nhiều máy chủ.</a:t>
            </a:r>
          </a:p>
          <a:p>
            <a:pPr lvl="1">
              <a:spcAft>
                <a:spcPts val="300"/>
              </a:spcAft>
            </a:pPr>
            <a:r>
              <a:rPr sz="1600" b="0" i="0">
                <a:solidFill>
                  <a:srgbClr val="000000"/>
                </a:solidFill>
                <a:latin typeface="Times New Roman"/>
              </a:rPr>
              <a:t>– Phân bậc (tier) theo loại thao tác: đăng nhập, nộp bài, LLM… — tách hạn mức ẩn danh / đã xác thực.</a:t>
            </a:r>
          </a:p>
          <a:p>
            <a:pPr lvl="1">
              <a:spcAft>
                <a:spcPts val="300"/>
              </a:spcAft>
            </a:pPr>
            <a:r>
              <a:rPr sz="1600" b="0" i="0">
                <a:solidFill>
                  <a:srgbClr val="000000"/>
                </a:solidFill>
                <a:latin typeface="Times New Roman"/>
              </a:rPr>
              <a:t>– Nguyên tắc fail-open: Redis gặp sự cố thì vẫn cho request đi qua, ưu tiên tính sẵn sàng.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822960"/>
          </a:xfrm>
          <a:prstGeom prst="rect">
            <a:avLst/>
          </a:prstGeom>
          <a:noFill/>
        </p:spPr>
        <p:txBody>
          <a:bodyPr wrap="square">
            <a:spAutoFit/>
          </a:bodyPr>
          <a:lstStyle/>
          <a:p>
            <a:r>
              <a:rPr sz="2400" b="1" i="0">
                <a:solidFill>
                  <a:srgbClr val="000000"/>
                </a:solidFill>
                <a:latin typeface="Times New Roman"/>
              </a:rPr>
              <a:t>7. Mô hình tính điểm và đánh giá năng lực</a:t>
            </a:r>
          </a:p>
        </p:txBody>
      </p:sp>
      <p:sp>
        <p:nvSpPr>
          <p:cNvPr id="3" name="Rectangle 2"/>
          <p:cNvSpPr/>
          <p:nvPr/>
        </p:nvSpPr>
        <p:spPr>
          <a:xfrm>
            <a:off x="640080" y="1143000"/>
            <a:ext cx="1088136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5120640"/>
          </a:xfrm>
          <a:prstGeom prst="rect">
            <a:avLst/>
          </a:prstGeom>
          <a:noFill/>
        </p:spPr>
        <p:txBody>
          <a:bodyPr wrap="square">
            <a:spAutoFit/>
          </a:bodyPr>
          <a:lstStyle/>
          <a:p>
            <a:pPr>
              <a:spcBef>
                <a:spcPts val="1000"/>
              </a:spcBef>
              <a:spcAft>
                <a:spcPts val="300"/>
              </a:spcAft>
            </a:pPr>
            <a:r>
              <a:rPr sz="1700" b="1" i="0">
                <a:solidFill>
                  <a:srgbClr val="000000"/>
                </a:solidFill>
                <a:latin typeface="Times New Roman"/>
              </a:rPr>
              <a:t>Hai thể thức chấm điểm cuộc thi</a:t>
            </a:r>
          </a:p>
          <a:p>
            <a:pPr lvl="1">
              <a:spcAft>
                <a:spcPts val="300"/>
              </a:spcAft>
            </a:pPr>
            <a:r>
              <a:rPr sz="1600" b="0" i="0">
                <a:solidFill>
                  <a:srgbClr val="000000"/>
                </a:solidFill>
                <a:latin typeface="Times New Roman"/>
              </a:rPr>
              <a:t>– ICPC: xếp theo số bài giải đúng; hòa nhau thì xét tổng thời gian cộng phạt mỗi lần nộp sai.</a:t>
            </a:r>
          </a:p>
          <a:p>
            <a:pPr lvl="1">
              <a:spcAft>
                <a:spcPts val="300"/>
              </a:spcAft>
            </a:pPr>
            <a:r>
              <a:rPr sz="1600" b="0" i="0">
                <a:solidFill>
                  <a:srgbClr val="000000"/>
                </a:solidFill>
                <a:latin typeface="Times New Roman"/>
              </a:rPr>
              <a:t>– IOI: tính điểm từng phần theo số ca kiểm thử vượt qua.</a:t>
            </a:r>
          </a:p>
          <a:p>
            <a:pPr>
              <a:spcBef>
                <a:spcPts val="1000"/>
              </a:spcBef>
              <a:spcAft>
                <a:spcPts val="300"/>
              </a:spcAft>
            </a:pPr>
            <a:r>
              <a:rPr sz="1700" b="1" i="0">
                <a:solidFill>
                  <a:srgbClr val="000000"/>
                </a:solidFill>
                <a:latin typeface="Times New Roman"/>
              </a:rPr>
              <a:t>Đánh giá năng lực (rating) sau cuộc thi — biến thể của hệ Elo</a:t>
            </a:r>
          </a:p>
          <a:p>
            <a:pPr lvl="1">
              <a:spcAft>
                <a:spcPts val="300"/>
              </a:spcAft>
            </a:pPr>
            <a:r>
              <a:rPr sz="1600" b="0" i="0">
                <a:solidFill>
                  <a:srgbClr val="000000"/>
                </a:solidFill>
                <a:latin typeface="Times New Roman"/>
              </a:rPr>
              <a:t>– Điểm khởi tạo 1500. Thứ hạng kỳ vọng (seed) của thí sinh xác định bởi số thí sinh có điểm cao hơn:</a:t>
            </a:r>
          </a:p>
          <a:p>
            <a:pPr algn="ctr">
              <a:spcBef>
                <a:spcPts val="400"/>
              </a:spcBef>
              <a:spcAft>
                <a:spcPts val="400"/>
              </a:spcAft>
            </a:pPr>
            <a:r>
              <a:rPr sz="1600" b="0" i="1">
                <a:solidFill>
                  <a:srgbClr val="000000"/>
                </a:solidFill>
                <a:latin typeface="Times New Roman"/>
              </a:rPr>
              <a:t>sᵢ = 1 + |{ j : Rⱼ &gt; Rᵢ }|</a:t>
            </a:r>
          </a:p>
          <a:p>
            <a:pPr lvl="1">
              <a:spcAft>
                <a:spcPts val="300"/>
              </a:spcAft>
            </a:pPr>
            <a:r>
              <a:rPr sz="1600" b="0" i="0">
                <a:solidFill>
                  <a:srgbClr val="000000"/>
                </a:solidFill>
                <a:latin typeface="Times New Roman"/>
              </a:rPr>
              <a:t>– Mức thay đổi điểm tỷ lệ với chênh lệch giữa kỳ vọng và thực tế (K = 100, N thí sinh):</a:t>
            </a:r>
          </a:p>
          <a:p>
            <a:pPr algn="ctr">
              <a:spcBef>
                <a:spcPts val="400"/>
              </a:spcBef>
              <a:spcAft>
                <a:spcPts val="400"/>
              </a:spcAft>
            </a:pPr>
            <a:r>
              <a:rPr sz="1600" b="0" i="1">
                <a:solidFill>
                  <a:srgbClr val="000000"/>
                </a:solidFill>
                <a:latin typeface="Times New Roman"/>
              </a:rPr>
              <a:t>Δᵢ = round( K · (sᵢ − rᵢ) / N ),   Rᵢ′ = max(1, Rᵢ + clip(Δᵢ, −150, 150))</a:t>
            </a:r>
          </a:p>
          <a:p>
            <a:pPr lvl="1">
              <a:spcAft>
                <a:spcPts val="300"/>
              </a:spcAft>
            </a:pPr>
            <a:r>
              <a:rPr sz="1600" b="0" i="0">
                <a:solidFill>
                  <a:srgbClr val="000000"/>
                </a:solidFill>
                <a:latin typeface="Times New Roman"/>
              </a:rPr>
              <a:t>– Vượt kỳ vọng ⇒ tăng điểm; kém kỳ vọng ⇒ giảm; chặn biên ±150 để tránh biến động lớn.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822960"/>
          </a:xfrm>
          <a:prstGeom prst="rect">
            <a:avLst/>
          </a:prstGeom>
          <a:noFill/>
        </p:spPr>
        <p:txBody>
          <a:bodyPr wrap="square">
            <a:spAutoFit/>
          </a:bodyPr>
          <a:lstStyle/>
          <a:p>
            <a:r>
              <a:rPr sz="2400" b="1" i="0">
                <a:solidFill>
                  <a:srgbClr val="000000"/>
                </a:solidFill>
                <a:latin typeface="Times New Roman"/>
              </a:rPr>
              <a:t>8. Trực quan hóa cấu trúc dữ liệu</a:t>
            </a:r>
          </a:p>
        </p:txBody>
      </p:sp>
      <p:sp>
        <p:nvSpPr>
          <p:cNvPr id="3" name="Rectangle 2"/>
          <p:cNvSpPr/>
          <p:nvPr/>
        </p:nvSpPr>
        <p:spPr>
          <a:xfrm>
            <a:off x="640080" y="1143000"/>
            <a:ext cx="1088136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5120640"/>
          </a:xfrm>
          <a:prstGeom prst="rect">
            <a:avLst/>
          </a:prstGeom>
          <a:noFill/>
        </p:spPr>
        <p:txBody>
          <a:bodyPr wrap="square">
            <a:spAutoFit/>
          </a:bodyPr>
          <a:lstStyle/>
          <a:p>
            <a:pPr>
              <a:spcAft>
                <a:spcPts val="400"/>
              </a:spcAft>
            </a:pPr>
            <a:r>
              <a:rPr sz="1600" b="0" i="0">
                <a:solidFill>
                  <a:srgbClr val="000000"/>
                </a:solidFill>
                <a:latin typeface="Times New Roman"/>
              </a:rPr>
              <a:t>Ý tưởng. Ghi vết trạng thái chương trình qua từng bước thực thi để phát lại như hoạt ảnh (mảng, ngăn xếp, hàng đợi, danh sách liên kết, cây, đồ thị).</a:t>
            </a:r>
          </a:p>
          <a:p>
            <a:pPr>
              <a:spcBef>
                <a:spcPts val="1000"/>
              </a:spcBef>
              <a:spcAft>
                <a:spcPts val="300"/>
              </a:spcAft>
            </a:pPr>
            <a:r>
              <a:rPr sz="1700" b="1" i="0">
                <a:solidFill>
                  <a:srgbClr val="000000"/>
                </a:solidFill>
                <a:latin typeface="Times New Roman"/>
              </a:rPr>
              <a:t>Kỹ thuật chèn mã đo đạc (code instrumentation)</a:t>
            </a:r>
          </a:p>
          <a:p>
            <a:pPr lvl="1">
              <a:spcAft>
                <a:spcPts val="300"/>
              </a:spcAft>
            </a:pPr>
            <a:r>
              <a:rPr sz="1600" b="0" i="0">
                <a:solidFill>
                  <a:srgbClr val="000000"/>
                </a:solidFill>
                <a:latin typeface="Times New Roman"/>
              </a:rPr>
              <a:t>– Mỗi ngôn ngữ một bộ ghi vết (tracer): Python dùng cơ chế theo dõi của trình thông dịch; ngôn ngữ biên dịch được viết lại mã để chèn lời gọi ghi vết từng dòng.</a:t>
            </a:r>
          </a:p>
          <a:p>
            <a:pPr lvl="1">
              <a:spcAft>
                <a:spcPts val="300"/>
              </a:spcAft>
            </a:pPr>
            <a:r>
              <a:rPr sz="1600" b="0" i="0">
                <a:solidFill>
                  <a:srgbClr val="000000"/>
                </a:solidFill>
                <a:latin typeface="Times New Roman"/>
              </a:rPr>
              <a:t>– Khung trạng thái (frame) phát ra stderr: số bước, dòng lệnh, ngăn xếp lời gọi kèm biến cục bộ, vùng heap; định danh ổn định qua các khung ⇒ hoạt ảnh mượt.</a:t>
            </a:r>
          </a:p>
          <a:p>
            <a:pPr lvl="1">
              <a:spcAft>
                <a:spcPts val="300"/>
              </a:spcAft>
            </a:pPr>
            <a:r>
              <a:rPr sz="1600" b="0" i="0">
                <a:solidFill>
                  <a:srgbClr val="000000"/>
                </a:solidFill>
                <a:latin typeface="Times New Roman"/>
              </a:rPr>
              <a:t>– An toàn: giới hạn 5000 bước, cắt ngưỡng dữ liệu, thực thi trong sandbox Judge0.</a:t>
            </a:r>
          </a:p>
          <a:p>
            <a:pPr>
              <a:spcBef>
                <a:spcPts val="1000"/>
              </a:spcBef>
              <a:spcAft>
                <a:spcPts val="300"/>
              </a:spcAft>
            </a:pPr>
            <a:r>
              <a:rPr sz="1700" b="1" i="0">
                <a:solidFill>
                  <a:srgbClr val="000000"/>
                </a:solidFill>
                <a:latin typeface="Times New Roman"/>
              </a:rPr>
              <a:t>Suy luận kiểu hiển thị bằng LLM</a:t>
            </a:r>
          </a:p>
          <a:p>
            <a:pPr lvl="1">
              <a:spcAft>
                <a:spcPts val="300"/>
              </a:spcAft>
            </a:pPr>
            <a:r>
              <a:rPr sz="1600" b="0" i="0">
                <a:solidFill>
                  <a:srgbClr val="000000"/>
                </a:solidFill>
                <a:latin typeface="Times New Roman"/>
              </a:rPr>
              <a:t>– Gemini phân loại vai trò ngữ nghĩa của biến (ma trận kề? bảng quy hoạch động?) — chạy song song, quá 3 giây thì frontend tự suy luận heuristic; kết quả cache Redis 24 giờ.</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822960"/>
          </a:xfrm>
          <a:prstGeom prst="rect">
            <a:avLst/>
          </a:prstGeom>
          <a:noFill/>
        </p:spPr>
        <p:txBody>
          <a:bodyPr wrap="square">
            <a:spAutoFit/>
          </a:bodyPr>
          <a:lstStyle/>
          <a:p>
            <a:r>
              <a:rPr sz="2400" b="1" i="0">
                <a:solidFill>
                  <a:srgbClr val="000000"/>
                </a:solidFill>
                <a:latin typeface="Times New Roman"/>
              </a:rPr>
              <a:t>9. Tích hợp mô hình ngôn ngữ lớn (LLM)</a:t>
            </a:r>
          </a:p>
        </p:txBody>
      </p:sp>
      <p:sp>
        <p:nvSpPr>
          <p:cNvPr id="3" name="Rectangle 2"/>
          <p:cNvSpPr/>
          <p:nvPr/>
        </p:nvSpPr>
        <p:spPr>
          <a:xfrm>
            <a:off x="640080" y="1143000"/>
            <a:ext cx="1088136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5120640"/>
          </a:xfrm>
          <a:prstGeom prst="rect">
            <a:avLst/>
          </a:prstGeom>
          <a:noFill/>
        </p:spPr>
        <p:txBody>
          <a:bodyPr wrap="square">
            <a:spAutoFit/>
          </a:bodyPr>
          <a:lstStyle/>
          <a:p>
            <a:pPr>
              <a:spcBef>
                <a:spcPts val="1000"/>
              </a:spcBef>
              <a:spcAft>
                <a:spcPts val="300"/>
              </a:spcAft>
            </a:pPr>
            <a:r>
              <a:rPr sz="1700" b="1" i="0">
                <a:solidFill>
                  <a:srgbClr val="000000"/>
                </a:solidFill>
                <a:latin typeface="Times New Roman"/>
              </a:rPr>
              <a:t>Mô hình proxy: backend làm trung gian với LLM (Gemini 2.5 Flash)</a:t>
            </a:r>
          </a:p>
          <a:p>
            <a:pPr lvl="1">
              <a:spcAft>
                <a:spcPts val="300"/>
              </a:spcAft>
            </a:pPr>
            <a:r>
              <a:rPr sz="1600" b="0" i="0">
                <a:solidFill>
                  <a:srgbClr val="000000"/>
                </a:solidFill>
                <a:latin typeface="Times New Roman"/>
              </a:rPr>
              <a:t>– Kiểm soát nội dung request, giới hạn tần suất, ghi nhật ký; tự động gọi lại (retry) khi dịch vụ quá tải.</a:t>
            </a:r>
          </a:p>
          <a:p>
            <a:pPr lvl="1">
              <a:spcAft>
                <a:spcPts val="300"/>
              </a:spcAft>
            </a:pPr>
            <a:r>
              <a:rPr sz="1600" b="0" i="0">
                <a:solidFill>
                  <a:srgbClr val="000000"/>
                </a:solidFill>
                <a:latin typeface="Times New Roman"/>
              </a:rPr>
              <a:t>– Thiết kế đa nhà cung cấp: tra cứu theo tên, có thể mở rộng sang Claude, OpenAI.</a:t>
            </a:r>
          </a:p>
          <a:p>
            <a:pPr>
              <a:spcBef>
                <a:spcPts val="1000"/>
              </a:spcBef>
              <a:spcAft>
                <a:spcPts val="300"/>
              </a:spcAft>
            </a:pPr>
            <a:r>
              <a:rPr sz="1700" b="1" i="0">
                <a:solidFill>
                  <a:srgbClr val="000000"/>
                </a:solidFill>
                <a:latin typeface="Times New Roman"/>
              </a:rPr>
              <a:t>Cho sinh viên</a:t>
            </a:r>
          </a:p>
          <a:p>
            <a:pPr lvl="1">
              <a:spcAft>
                <a:spcPts val="300"/>
              </a:spcAft>
            </a:pPr>
            <a:r>
              <a:rPr sz="1600" b="0" i="0">
                <a:solidFill>
                  <a:srgbClr val="000000"/>
                </a:solidFill>
                <a:latin typeface="Times New Roman"/>
              </a:rPr>
              <a:t>– Gợi ý học tập theo mức độ tăng dần — không tiết lộ lời giải; phân tích độ phức tạp thời gian/không gian của mã nguồn.</a:t>
            </a:r>
          </a:p>
          <a:p>
            <a:pPr>
              <a:spcBef>
                <a:spcPts val="1000"/>
              </a:spcBef>
              <a:spcAft>
                <a:spcPts val="300"/>
              </a:spcAft>
            </a:pPr>
            <a:r>
              <a:rPr sz="1700" b="1" i="0">
                <a:solidFill>
                  <a:srgbClr val="000000"/>
                </a:solidFill>
                <a:latin typeface="Times New Roman"/>
              </a:rPr>
              <a:t>Cho giảng viên</a:t>
            </a:r>
          </a:p>
          <a:p>
            <a:pPr lvl="1">
              <a:spcAft>
                <a:spcPts val="300"/>
              </a:spcAft>
            </a:pPr>
            <a:r>
              <a:rPr sz="1600" b="0" i="0">
                <a:solidFill>
                  <a:srgbClr val="000000"/>
                </a:solidFill>
                <a:latin typeface="Times New Roman"/>
              </a:rPr>
              <a:t>– Trích xuất đề bài từ PDF (PDFBox + Gemini) thành các trường có cấu trúc; sinh 1–50 ca kiểm thử từ đề bài.</a:t>
            </a:r>
          </a:p>
          <a:p>
            <a:pPr>
              <a:spcBef>
                <a:spcPts val="1000"/>
              </a:spcBef>
              <a:spcAft>
                <a:spcPts val="300"/>
              </a:spcAft>
            </a:pPr>
            <a:r>
              <a:rPr sz="1700" b="1" i="0">
                <a:solidFill>
                  <a:srgbClr val="000000"/>
                </a:solidFill>
                <a:latin typeface="Times New Roman"/>
              </a:rPr>
              <a:t>Rào chắn (guardrail)</a:t>
            </a:r>
          </a:p>
          <a:p>
            <a:pPr lvl="1">
              <a:spcAft>
                <a:spcPts val="300"/>
              </a:spcAft>
            </a:pPr>
            <a:r>
              <a:rPr sz="1600" b="0" i="0">
                <a:solidFill>
                  <a:srgbClr val="000000"/>
                </a:solidFill>
                <a:latin typeface="Times New Roman"/>
              </a:rPr>
              <a:t>– Chỉ thị hệ thống ràng buộc phạm vi: từ chối câu hỏi lạc đề; ngữ cảnh bài toán gắn vào từng prompt; chặn người ẩn danh ở bậc rate limit 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822960"/>
          </a:xfrm>
          <a:prstGeom prst="rect">
            <a:avLst/>
          </a:prstGeom>
          <a:noFill/>
        </p:spPr>
        <p:txBody>
          <a:bodyPr wrap="square">
            <a:spAutoFit/>
          </a:bodyPr>
          <a:lstStyle/>
          <a:p>
            <a:r>
              <a:rPr sz="2400" b="1" i="0">
                <a:solidFill>
                  <a:srgbClr val="000000"/>
                </a:solidFill>
                <a:latin typeface="Times New Roman"/>
              </a:rPr>
              <a:t>Kết luận</a:t>
            </a:r>
          </a:p>
        </p:txBody>
      </p:sp>
      <p:sp>
        <p:nvSpPr>
          <p:cNvPr id="3" name="Rectangle 2"/>
          <p:cNvSpPr/>
          <p:nvPr/>
        </p:nvSpPr>
        <p:spPr>
          <a:xfrm>
            <a:off x="640080" y="1143000"/>
            <a:ext cx="1088136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5120640"/>
          </a:xfrm>
          <a:prstGeom prst="rect">
            <a:avLst/>
          </a:prstGeom>
          <a:noFill/>
        </p:spPr>
        <p:txBody>
          <a:bodyPr wrap="square">
            <a:spAutoFit/>
          </a:bodyPr>
          <a:lstStyle/>
          <a:p>
            <a:pPr>
              <a:spcBef>
                <a:spcPts val="1000"/>
              </a:spcBef>
              <a:spcAft>
                <a:spcPts val="300"/>
              </a:spcAft>
            </a:pPr>
            <a:r>
              <a:rPr sz="1700" b="1" i="0">
                <a:solidFill>
                  <a:srgbClr val="000000"/>
                </a:solidFill>
                <a:latin typeface="Times New Roman"/>
              </a:rPr>
              <a:t>Các cơ sở lý thuyết đã vận dụng trong TDTUOJ</a:t>
            </a:r>
          </a:p>
          <a:p>
            <a:pPr lvl="1">
              <a:spcAft>
                <a:spcPts val="300"/>
              </a:spcAft>
            </a:pPr>
            <a:r>
              <a:rPr sz="1600" b="0" i="0">
                <a:solidFill>
                  <a:srgbClr val="000000"/>
                </a:solidFill>
                <a:latin typeface="Times New Roman"/>
              </a:rPr>
              <a:t>– Chấm tự động dựa trên ca kiểm thử; cô lập thực thi bằng cgroups/namespaces (Judge0 self-hosted).</a:t>
            </a:r>
          </a:p>
          <a:p>
            <a:pPr lvl="1">
              <a:spcAft>
                <a:spcPts val="300"/>
              </a:spcAft>
            </a:pPr>
            <a:r>
              <a:rPr sz="1600" b="0" i="0">
                <a:solidFill>
                  <a:srgbClr val="000000"/>
                </a:solidFill>
                <a:latin typeface="Times New Roman"/>
              </a:rPr>
              <a:t>– Kiến trúc phân tầng, REST không trạng thái; hàng đợi – worker cho chấm bài bất đồng bộ.</a:t>
            </a:r>
          </a:p>
          <a:p>
            <a:pPr lvl="1">
              <a:spcAft>
                <a:spcPts val="300"/>
              </a:spcAft>
            </a:pPr>
            <a:r>
              <a:rPr sz="1600" b="0" i="0">
                <a:solidFill>
                  <a:srgbClr val="000000"/>
                </a:solidFill>
                <a:latin typeface="Times New Roman"/>
              </a:rPr>
              <a:t>– Bảo mật: JWT + RBAC + BCrypt; giới hạn tần suất bằng token bucket trên Redis.</a:t>
            </a:r>
          </a:p>
          <a:p>
            <a:pPr lvl="1">
              <a:spcAft>
                <a:spcPts val="300"/>
              </a:spcAft>
            </a:pPr>
            <a:r>
              <a:rPr sz="1600" b="0" i="0">
                <a:solidFill>
                  <a:srgbClr val="000000"/>
                </a:solidFill>
                <a:latin typeface="Times New Roman"/>
              </a:rPr>
              <a:t>– Chấm điểm ICPC/IOI; đánh giá năng lực theo biến thể Elo dựa trên thứ hạng kỳ vọng.</a:t>
            </a:r>
          </a:p>
          <a:p>
            <a:pPr lvl="1">
              <a:spcAft>
                <a:spcPts val="300"/>
              </a:spcAft>
            </a:pPr>
            <a:r>
              <a:rPr sz="1600" b="0" i="0">
                <a:solidFill>
                  <a:srgbClr val="000000"/>
                </a:solidFill>
                <a:latin typeface="Times New Roman"/>
              </a:rPr>
              <a:t>– Trực quan hóa bằng chèn mã đo đạc kết hợp LLM suy luận kiểu hiển thị.</a:t>
            </a:r>
          </a:p>
          <a:p>
            <a:pPr lvl="1">
              <a:spcAft>
                <a:spcPts val="300"/>
              </a:spcAft>
            </a:pPr>
            <a:r>
              <a:rPr sz="1600" b="0" i="0">
                <a:solidFill>
                  <a:srgbClr val="000000"/>
                </a:solidFill>
                <a:latin typeface="Times New Roman"/>
              </a:rPr>
              <a:t>– LLM hỗ trợ học tập có rào chắn — gợi ý, phân tích độ phức tạp, nhập đề từ PDF.</a:t>
            </a:r>
          </a:p>
          <a:p>
            <a:pPr algn="ctr">
              <a:spcBef>
                <a:spcPts val="1600"/>
              </a:spcBef>
            </a:pPr>
            <a:r>
              <a:rPr sz="1800" b="1" i="0">
                <a:solidFill>
                  <a:srgbClr val="000000"/>
                </a:solidFill>
                <a:latin typeface="Times New Roman"/>
              </a:rPr>
              <a:t>Xin cảm ơn – Kính mời Hội đồng đặt câu hỏi.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