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21374100" cy="30276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 autoAdjust="0"/>
    <p:restoredTop sz="95090" autoAdjust="0"/>
  </p:normalViewPr>
  <p:slideViewPr>
    <p:cSldViewPr showGuides="1">
      <p:cViewPr>
        <p:scale>
          <a:sx n="33" d="100"/>
          <a:sy n="33" d="100"/>
        </p:scale>
        <p:origin x="2102" y="-2544"/>
      </p:cViewPr>
      <p:guideLst>
        <p:guide orient="horz" pos="214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18617-0849-4FC5-A3C6-CE0F1E79DFB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9975" y="1143000"/>
            <a:ext cx="2178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1D160-6648-4A4C-BEA5-3FB406DFE1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00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Tên loại: </a:t>
            </a:r>
            <a:r>
              <a:rPr lang="en-US"/>
              <a:t>Size: 48; Font: SVN Gilroy </a:t>
            </a:r>
            <a:r>
              <a:rPr lang="en-US" err="1"/>
              <a:t>Xbold</a:t>
            </a:r>
            <a:r>
              <a:rPr lang="en-US"/>
              <a:t>, In </a:t>
            </a:r>
            <a:r>
              <a:rPr lang="en-US" err="1"/>
              <a:t>hoa</a:t>
            </a:r>
            <a:r>
              <a:rPr lang="en-US"/>
              <a:t> </a:t>
            </a:r>
            <a:r>
              <a:rPr lang="en-US" err="1"/>
              <a:t>tất</a:t>
            </a:r>
            <a:r>
              <a:rPr lang="en-US"/>
              <a:t> </a:t>
            </a:r>
            <a:r>
              <a:rPr lang="en-US" err="1"/>
              <a:t>cả</a:t>
            </a:r>
            <a:endParaRPr lang="vi-VN"/>
          </a:p>
          <a:p>
            <a:r>
              <a:rPr lang="vi-VN"/>
              <a:t>Năm - ngành: </a:t>
            </a:r>
            <a:r>
              <a:rPr lang="en-US"/>
              <a:t>36</a:t>
            </a:r>
            <a:r>
              <a:rPr lang="vi-VN"/>
              <a:t> (Năm</a:t>
            </a:r>
            <a:r>
              <a:rPr lang="en-US"/>
              <a:t>: SVN Gilroy </a:t>
            </a:r>
            <a:r>
              <a:rPr lang="en-US" err="1"/>
              <a:t>Semibold</a:t>
            </a:r>
            <a:r>
              <a:rPr lang="en-US"/>
              <a:t> +</a:t>
            </a:r>
            <a:r>
              <a:rPr lang="vi-VN"/>
              <a:t> </a:t>
            </a:r>
            <a:r>
              <a:rPr lang="en-US"/>
              <a:t>I</a:t>
            </a:r>
            <a:r>
              <a:rPr lang="vi-VN" err="1"/>
              <a:t>talic</a:t>
            </a:r>
            <a:r>
              <a:rPr lang="vi-VN"/>
              <a:t> – Ngành</a:t>
            </a:r>
            <a:r>
              <a:rPr lang="en-US"/>
              <a:t>:</a:t>
            </a:r>
            <a:r>
              <a:rPr lang="vi-VN"/>
              <a:t> </a:t>
            </a:r>
            <a:r>
              <a:rPr lang="en-US"/>
              <a:t>SVN Gilroy + Bold</a:t>
            </a:r>
            <a:r>
              <a:rPr lang="vi-VN"/>
              <a:t>)</a:t>
            </a:r>
          </a:p>
          <a:p>
            <a:r>
              <a:rPr lang="vi-VN"/>
              <a:t>Tên đề tài: </a:t>
            </a:r>
            <a:r>
              <a:rPr lang="en-US"/>
              <a:t>Size: 46; Font: SVN Gilroy + Bold</a:t>
            </a:r>
            <a:endParaRPr lang="vi-VN"/>
          </a:p>
          <a:p>
            <a:r>
              <a:rPr lang="vi-VN"/>
              <a:t>Tên người thực hiện: </a:t>
            </a:r>
            <a:r>
              <a:rPr lang="en-US"/>
              <a:t>Size: 40; Font: SVN Gilroy + Italic</a:t>
            </a:r>
            <a:endParaRPr lang="vi-VN"/>
          </a:p>
          <a:p>
            <a:r>
              <a:rPr lang="vi-VN"/>
              <a:t>QR </a:t>
            </a:r>
            <a:r>
              <a:rPr lang="vi-VN" err="1"/>
              <a:t>Code</a:t>
            </a:r>
            <a:r>
              <a:rPr lang="vi-VN"/>
              <a:t>: </a:t>
            </a:r>
            <a:r>
              <a:rPr lang="en-US"/>
              <a:t>3’’ x 3’’</a:t>
            </a:r>
            <a:endParaRPr lang="vi-VN"/>
          </a:p>
          <a:p>
            <a:endParaRPr lang="vi-VN"/>
          </a:p>
          <a:p>
            <a:r>
              <a:rPr lang="vi-VN"/>
              <a:t>Tên loại đề tài:</a:t>
            </a:r>
          </a:p>
          <a:p>
            <a:pPr marL="228600" indent="-228600">
              <a:buAutoNum type="arabicPeriod"/>
            </a:pPr>
            <a:r>
              <a:rPr lang="vi-VN"/>
              <a:t>ĐỀ TÀI NGHIÊN CỨU KHOA HỌC</a:t>
            </a:r>
          </a:p>
          <a:p>
            <a:pPr marL="228600" indent="-228600">
              <a:buAutoNum type="arabicPeriod"/>
            </a:pPr>
            <a:r>
              <a:rPr lang="vi-VN"/>
              <a:t>KHÓA LUẬN TỐT NGHIỆP</a:t>
            </a:r>
          </a:p>
          <a:p>
            <a:pPr marL="228600" indent="-228600">
              <a:buAutoNum type="arabicPeriod"/>
            </a:pPr>
            <a:r>
              <a:rPr lang="vi-VN"/>
              <a:t>BÀI BÁO KHOA HỌC</a:t>
            </a:r>
          </a:p>
          <a:p>
            <a:pPr marL="228600" indent="-228600">
              <a:buAutoNum type="arabicPeriod"/>
            </a:pPr>
            <a:r>
              <a:rPr lang="vi-VN"/>
              <a:t>NGHIÊN CỨU DOANH NGHIỆP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1D160-6648-4A4C-BEA5-3FB406DFE1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98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61">
            <a:extLst>
              <a:ext uri="{FF2B5EF4-FFF2-40B4-BE49-F238E27FC236}">
                <a16:creationId xmlns:a16="http://schemas.microsoft.com/office/drawing/2014/main" id="{FFB524AB-E206-8A53-B054-FEFDD32D87E6}"/>
              </a:ext>
            </a:extLst>
          </p:cNvPr>
          <p:cNvSpPr txBox="1"/>
          <p:nvPr/>
        </p:nvSpPr>
        <p:spPr>
          <a:xfrm>
            <a:off x="1230630" y="1751334"/>
            <a:ext cx="10439400" cy="665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3600" i="1" dirty="0">
                <a:solidFill>
                  <a:schemeClr val="bg1"/>
                </a:solidFill>
                <a:latin typeface="SVN-Gilroy SemiBold" panose="00000700000000000000" pitchFamily="50" charset="0"/>
              </a:rPr>
              <a:t>Năm triển khai: 2026</a:t>
            </a:r>
            <a:endParaRPr lang="en-US" sz="3600" b="1" dirty="0">
              <a:solidFill>
                <a:schemeClr val="bg1"/>
              </a:solidFill>
              <a:latin typeface="SVN-Gilroy" panose="00000500000000000000" pitchFamily="50" charset="0"/>
            </a:endParaRPr>
          </a:p>
        </p:txBody>
      </p:sp>
      <p:sp>
        <p:nvSpPr>
          <p:cNvPr id="44" name="TextBox 61">
            <a:extLst>
              <a:ext uri="{FF2B5EF4-FFF2-40B4-BE49-F238E27FC236}">
                <a16:creationId xmlns:a16="http://schemas.microsoft.com/office/drawing/2014/main" id="{EE182F7A-B8C0-C789-7F13-A591F7A1D3B5}"/>
              </a:ext>
            </a:extLst>
          </p:cNvPr>
          <p:cNvSpPr txBox="1"/>
          <p:nvPr/>
        </p:nvSpPr>
        <p:spPr>
          <a:xfrm>
            <a:off x="1230630" y="903737"/>
            <a:ext cx="10439400" cy="7299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4800" dirty="0">
                <a:solidFill>
                  <a:schemeClr val="bg1"/>
                </a:solidFill>
                <a:latin typeface="SVN-Gilroy XBold" panose="00000900000000000000" pitchFamily="50" charset="0"/>
              </a:rPr>
              <a:t>KHÓA LUẬN TỐT NGHIỆP</a:t>
            </a:r>
          </a:p>
        </p:txBody>
      </p:sp>
      <p:sp>
        <p:nvSpPr>
          <p:cNvPr id="51" name="TextBox 61">
            <a:extLst>
              <a:ext uri="{FF2B5EF4-FFF2-40B4-BE49-F238E27FC236}">
                <a16:creationId xmlns:a16="http://schemas.microsoft.com/office/drawing/2014/main" id="{22A9F62E-1C19-EAB8-7EF1-669868BF5F4F}"/>
              </a:ext>
            </a:extLst>
          </p:cNvPr>
          <p:cNvSpPr txBox="1"/>
          <p:nvPr/>
        </p:nvSpPr>
        <p:spPr>
          <a:xfrm>
            <a:off x="1230630" y="3175000"/>
            <a:ext cx="15167610" cy="1513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en-US" sz="4600" b="1" dirty="0">
                <a:solidFill>
                  <a:schemeClr val="bg1"/>
                </a:solidFill>
                <a:latin typeface="SVN-Gilroy" panose="00000500000000000000" pitchFamily="50" charset="0"/>
              </a:rPr>
              <a:t>Đề tài: Hệ Thống Chấm Bài Trực Tuyến – TDTUOJ</a:t>
            </a:r>
          </a:p>
        </p:txBody>
      </p:sp>
      <p:sp>
        <p:nvSpPr>
          <p:cNvPr id="53" name="TextBox 61">
            <a:extLst>
              <a:ext uri="{FF2B5EF4-FFF2-40B4-BE49-F238E27FC236}">
                <a16:creationId xmlns:a16="http://schemas.microsoft.com/office/drawing/2014/main" id="{4B8B1A7E-64CB-EE78-F2E7-700E001C65C8}"/>
              </a:ext>
            </a:extLst>
          </p:cNvPr>
          <p:cNvSpPr txBox="1"/>
          <p:nvPr/>
        </p:nvSpPr>
        <p:spPr>
          <a:xfrm>
            <a:off x="1206610" y="5085383"/>
            <a:ext cx="15167610" cy="684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00"/>
              </a:lnSpc>
            </a:pPr>
            <a:r>
              <a:rPr lang="vi-VN" sz="4000" i="1" dirty="0">
                <a:solidFill>
                  <a:schemeClr val="bg1"/>
                </a:solidFill>
                <a:latin typeface="SVN-Gilroy" panose="00000500000000000000" pitchFamily="50" charset="0"/>
              </a:rPr>
              <a:t>Hồ Nguyễn An Khang¹, Doãn Xuân Thanh*</a:t>
            </a:r>
          </a:p>
        </p:txBody>
      </p:sp>
      <p:sp>
        <p:nvSpPr>
          <p:cNvPr id="2" name="TextBox 61">
            <a:extLst>
              <a:ext uri="{FF2B5EF4-FFF2-40B4-BE49-F238E27FC236}">
                <a16:creationId xmlns:a16="http://schemas.microsoft.com/office/drawing/2014/main" id="{F33B20A4-1FB8-B4BA-5EDF-5F41AA8FE9C1}"/>
              </a:ext>
            </a:extLst>
          </p:cNvPr>
          <p:cNvSpPr txBox="1"/>
          <p:nvPr/>
        </p:nvSpPr>
        <p:spPr>
          <a:xfrm>
            <a:off x="1206610" y="6203073"/>
            <a:ext cx="1570482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vi-VN" sz="2800" i="1" baseline="30000">
                <a:solidFill>
                  <a:schemeClr val="bg1"/>
                </a:solidFill>
                <a:latin typeface="SVN-Gilroy" panose="00000500000000000000" pitchFamily="50" charset="0"/>
              </a:rPr>
              <a:t>¹ Sinh viên ngành Kỹ thuật phần mềm, *GVHD Khoa Công nghệ thông tin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191861"/>
              </p:ext>
            </p:extLst>
          </p:nvPr>
        </p:nvGraphicFramePr>
        <p:xfrm>
          <a:off x="1934320" y="7899401"/>
          <a:ext cx="17515730" cy="18347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7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7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19999"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0070C0"/>
                          </a:solidFill>
                          <a:latin typeface="SVN-Gilroy"/>
                        </a:rPr>
                        <a:t>TÓM TẮT</a:t>
                      </a:r>
                    </a:p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SVN-Gilroy"/>
                        </a:rPr>
                        <a:t>TDTUOJ là hệ thống chấm bài lập trình trực tuyến, tự động hóa việc chấm bài và tổ chức thi đấu cho ba nhóm người dùng: sinh viên, giảng viên và quản trị viên.</a:t>
                      </a:r>
                    </a:p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SVN-Gilroy"/>
                        </a:rPr>
                        <a:t>Bài nộp được chấm tự động trong sandbox cô lập Judge0 với sáu ngôn ngữ (C, C++, C#, Java, JavaScript, Python), xử lý bất đồng bộ qua hàng đợi Redis; kèm hai tính năng học tập nổi bật: trực quan hóa cấu trúc dữ liệu và gợi ý bằng mô hình ngôn ngữ lớn (LLM).</a:t>
                      </a:r>
                    </a:p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SVN-Gilroy"/>
                        </a:rPr>
                        <a:t>Công nghệ: Java 21 – Spring Boot, React 19, PostgreSQL, Redis, Docker, Judge0, AWS S3, Gemini, Prometheus – Grafana, GitHub Actions, Azure.</a:t>
                      </a:r>
                    </a:p>
                    <a:p>
                      <a:endParaRPr sz="2200" b="0">
                        <a:solidFill>
                          <a:srgbClr val="1A1A1A"/>
                        </a:solidFill>
                        <a:latin typeface="SVN-Gilroy"/>
                      </a:endParaRPr>
                    </a:p>
                    <a:p>
                      <a:r>
                        <a:rPr sz="2800" b="1">
                          <a:solidFill>
                            <a:srgbClr val="0070C0"/>
                          </a:solidFill>
                          <a:latin typeface="SVN-Gilroy"/>
                        </a:rPr>
                        <a:t>TÍNH NĂNG CHÍNH</a:t>
                      </a:r>
                    </a:p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SVN-Gilroy"/>
                        </a:rPr>
                        <a:t>• Nộp &amp; chấm bài tự động sáu ngôn ngữ trong sandbox Judge0</a:t>
                      </a:r>
                    </a:p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SVN-Gilroy"/>
                        </a:rPr>
                        <a:t>• Cuộc thi ICPC/IOI, bảng xếp hạng thời gian thực (cache Redis)</a:t>
                      </a:r>
                    </a:p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SVN-Gilroy"/>
                        </a:rPr>
                        <a:t>• Điểm rating theo biến thể Elo, cập nhật sau mỗi cuộc thi</a:t>
                      </a:r>
                    </a:p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SVN-Gilroy"/>
                        </a:rPr>
                        <a:t>• Quản lý tổ chức, lớp học, bài thực hành và theo dõi tiến độ</a:t>
                      </a:r>
                    </a:p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SVN-Gilroy"/>
                        </a:rPr>
                        <a:t>• Trích xuất đề bài từ PDF, sinh ca kiểm thử bằng AI</a:t>
                      </a:r>
                    </a:p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SVN-Gilroy"/>
                        </a:rPr>
                        <a:t>• Xác thực JWT, phân quyền ba vai trò, giới hạn tần suất truy cập</a:t>
                      </a:r>
                    </a:p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SVN-Gilroy"/>
                        </a:rPr>
                        <a:t>• Hồ sơ năng lực, biểu đồ nhiệt hoạt động, ngân hàng bài toán</a:t>
                      </a: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800" b="1">
                          <a:solidFill>
                            <a:srgbClr val="0070C0"/>
                          </a:solidFill>
                          <a:latin typeface="SVN-Gilroy"/>
                        </a:rPr>
                        <a:t>KIẾN TRÚC HỆ THỐNG</a:t>
                      </a:r>
                    </a:p>
                    <a:p>
                      <a:r>
                        <a:rPr sz="2200" b="0">
                          <a:solidFill>
                            <a:srgbClr val="1A1A1A"/>
                          </a:solidFill>
                          <a:latin typeface="SVN-Gilroy"/>
                        </a:rPr>
                        <a:t>Frontend (React SPA) và backend (Spring Boot) tách biệt, giao tiếp qua REST API không trạng thái (JWT); tích hợp Judge0, PostgreSQL, Redis, AWS S3 và dịch vụ LLM; đóng gói Docker, triển khai trên Azure với CI/CD GitHub Actions.</a:t>
                      </a: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0">
                <a:tc>
                  <a:txBody>
                    <a:bodyPr/>
                    <a:lstStyle/>
                    <a:p>
                      <a:endParaRPr sz="2200" b="0" dirty="0">
                        <a:solidFill>
                          <a:srgbClr val="1A1A1A"/>
                        </a:solidFill>
                        <a:latin typeface="SVN-Gilroy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2800" b="1" dirty="0">
                          <a:solidFill>
                            <a:srgbClr val="0070C0"/>
                          </a:solidFill>
                          <a:latin typeface="SVN-Gilroy"/>
                        </a:rPr>
                        <a:t>HỖ TRỢ HỌC TẬP THÔNG MINH</a:t>
                      </a:r>
                    </a:p>
                    <a:p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Trình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minh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họa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tự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động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chèn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lệnh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truy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vết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vào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mã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nguồn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thực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trong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sandbox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và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phát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lại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từng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bước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của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mảng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ngăn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xếp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hàng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đợi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danh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sách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liên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kết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cây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đồ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thị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; LLM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phân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loại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vai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trò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của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biến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để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chọn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cách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hiển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thị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phù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hợp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.</a:t>
                      </a:r>
                    </a:p>
                    <a:p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Gợi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ý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học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tập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theo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mức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độ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tăng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dần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,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không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tiết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lộ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lời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giải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;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phân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tích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độ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phức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tạp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thuật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toán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;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rào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chắn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từ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chối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câu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hỏi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ngoài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phạm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vi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bài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toán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.</a:t>
                      </a:r>
                    </a:p>
                    <a:p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Hệ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thống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đã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triển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khai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thực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tế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1A1A1A"/>
                          </a:solidFill>
                          <a:latin typeface="SVN-Gilroy"/>
                        </a:rPr>
                        <a:t>tại</a:t>
                      </a:r>
                      <a:r>
                        <a:rPr sz="2000" b="0" dirty="0">
                          <a:solidFill>
                            <a:srgbClr val="1A1A1A"/>
                          </a:solidFill>
                          <a:latin typeface="SVN-Gilroy"/>
                        </a:rPr>
                        <a:t> tdtuoj.me.</a:t>
                      </a: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9959"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0070C0"/>
                          </a:solidFill>
                          <a:latin typeface="SVN-Gilroy"/>
                        </a:rPr>
                        <a:t>TRỰC QUAN HÓA CẤU TRÚC DỮ LIỆU</a:t>
                      </a:r>
                      <a:endParaRPr lang="en-GB" sz="2800" b="1" dirty="0">
                        <a:solidFill>
                          <a:srgbClr val="0070C0"/>
                        </a:solidFill>
                        <a:latin typeface="SVN-Gilroy"/>
                      </a:endParaRPr>
                    </a:p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SVN-Gilroy"/>
                        </a:rPr>
                        <a:t>Hoạt ảnh từng bước thực thi sinh từ vết chạy của mã nguồn</a:t>
                      </a: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600" b="1">
                          <a:solidFill>
                            <a:srgbClr val="0070C0"/>
                          </a:solidFill>
                          <a:latin typeface="SVN-Gilroy"/>
                        </a:rPr>
                        <a:t>KIỂM THỬ TẢI &amp; GIÁM SÁT HIỆU NĂNG</a:t>
                      </a:r>
                      <a:endParaRPr lang="en-GB" sz="2800">
                        <a:solidFill>
                          <a:schemeClr val="tx1"/>
                        </a:solidFill>
                        <a:latin typeface="SVN-Gilroy"/>
                      </a:endParaRPr>
                    </a:p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SVN-Gilroy"/>
                        </a:rPr>
                        <a:t>Mô phỏng tải bằng k6, giám sát thời gian thực bằng Grafana</a:t>
                      </a: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9959"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chemeClr val="tx1"/>
                        </a:solidFill>
                        <a:latin typeface="SVN-Gilroy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2800" dirty="0">
                        <a:solidFill>
                          <a:schemeClr val="tx1"/>
                        </a:solidFill>
                        <a:latin typeface="SVN-Gilroy"/>
                      </a:endParaRPr>
                    </a:p>
                  </a:txBody>
                  <a:tcPr marL="274320" marR="274320" marT="137160" marB="1371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5936978-E737-9252-72E0-A8EA208883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40" t="10226" r="10373" b="10372"/>
          <a:stretch/>
        </p:blipFill>
        <p:spPr>
          <a:xfrm>
            <a:off x="17071596" y="3403600"/>
            <a:ext cx="2946118" cy="2895600"/>
          </a:xfrm>
          <a:prstGeom prst="rect">
            <a:avLst/>
          </a:prstGeom>
        </p:spPr>
      </p:pic>
      <p:pic>
        <p:nvPicPr>
          <p:cNvPr id="54" name="Picture 53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0614" y="10332720"/>
            <a:ext cx="4913971" cy="4846320"/>
          </a:xfrm>
          <a:prstGeom prst="rect">
            <a:avLst/>
          </a:prstGeom>
        </p:spPr>
      </p:pic>
      <p:pic>
        <p:nvPicPr>
          <p:cNvPr id="55" name="Picture 54" descr="ui-visualiz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20876895"/>
            <a:ext cx="7955279" cy="4972050"/>
          </a:xfrm>
          <a:prstGeom prst="rect">
            <a:avLst/>
          </a:prstGeom>
        </p:spPr>
      </p:pic>
      <p:pic>
        <p:nvPicPr>
          <p:cNvPr id="56" name="Picture 55" descr="grafana-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20876895"/>
            <a:ext cx="7955279" cy="4972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0DA03F-EE5A-B6E8-B88F-83932798A1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1850" y="14765583"/>
            <a:ext cx="3657600" cy="4867363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234440" y="2706624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VN-Gilroy"/>
              </a:rPr>
              <a:t>Khoa Công nghệ Thông tin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SVN-Gilroy"/>
              </a:rPr>
              <a:t>Trường Đại học Tôn Đức Thắng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2706624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FFFFFF"/>
                </a:solidFill>
                <a:latin typeface="SVN-Gilroy"/>
              </a:rPr>
              <a:t>TDTUOJ</a:t>
            </a:r>
          </a:p>
          <a:p>
            <a:pPr algn="r"/>
            <a:r>
              <a:rPr sz="3600" b="1">
                <a:solidFill>
                  <a:srgbClr val="FFFFFF"/>
                </a:solidFill>
                <a:latin typeface="SVN-Gilroy"/>
              </a:rPr>
              <a:t>tdtuoj.me</a:t>
            </a:r>
          </a:p>
        </p:txBody>
      </p:sp>
    </p:spTree>
    <p:extLst>
      <p:ext uri="{BB962C8B-B14F-4D97-AF65-F5344CB8AC3E}">
        <p14:creationId xmlns:p14="http://schemas.microsoft.com/office/powerpoint/2010/main" val="3035334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621</Words>
  <Application>Microsoft Office PowerPoint</Application>
  <PresentationFormat>Custom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SVN-Gilroy</vt:lpstr>
      <vt:lpstr>SVN-Gilroy SemiBold</vt:lpstr>
      <vt:lpstr>SVN-Gilroy XBold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triễn lãm NCKH_ALD</dc:title>
  <dc:creator/>
  <cp:lastModifiedBy>Khang Ho</cp:lastModifiedBy>
  <cp:revision>36</cp:revision>
  <dcterms:created xsi:type="dcterms:W3CDTF">2006-08-16T00:00:00Z</dcterms:created>
  <dcterms:modified xsi:type="dcterms:W3CDTF">2026-07-03T00:38:21Z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CCBE85ED5C844403B09966F179E09C30_13</vt:lpwstr>
  </property>
  <property fmtid="{D5CDD505-2E9C-101B-9397-08002B2CF9AE}" pid="3" name="KSOProductBuildVer">
    <vt:lpwstr>1033-12.2.0.13215</vt:lpwstr>
  </property>
</Properties>
</file>