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sldIdLst>
    <p:sldId id="258" r:id="rId2"/>
  </p:sldIdLst>
  <p:sldSz cx="21374100" cy="302768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45"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snapVertSplitter="1" vertBarState="minimized" horzBarState="maximized">
    <p:restoredLeft sz="15620" autoAdjust="0"/>
    <p:restoredTop sz="95090" autoAdjust="0"/>
  </p:normalViewPr>
  <p:slideViewPr>
    <p:cSldViewPr showGuides="1">
      <p:cViewPr>
        <p:scale>
          <a:sx n="33" d="100"/>
          <a:sy n="33" d="100"/>
        </p:scale>
        <p:origin x="2102" y="-1968"/>
      </p:cViewPr>
      <p:guideLst>
        <p:guide orient="horz" pos="2145"/>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C118617-0849-4FC5-A3C6-CE0F1E79DFBD}" type="datetimeFigureOut">
              <a:rPr lang="en-US" smtClean="0"/>
              <a:t>7/7/2026</a:t>
            </a:fld>
            <a:endParaRPr lang="en-US"/>
          </a:p>
        </p:txBody>
      </p:sp>
      <p:sp>
        <p:nvSpPr>
          <p:cNvPr id="4" name="Slide Image Placeholder 3"/>
          <p:cNvSpPr>
            <a:spLocks noGrp="1" noRot="1" noChangeAspect="1"/>
          </p:cNvSpPr>
          <p:nvPr>
            <p:ph type="sldImg" idx="2"/>
          </p:nvPr>
        </p:nvSpPr>
        <p:spPr>
          <a:xfrm>
            <a:off x="2339975" y="1143000"/>
            <a:ext cx="217805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381D160-6648-4A4C-BEA5-3FB406DFE130}" type="slidenum">
              <a:rPr lang="en-US" smtClean="0"/>
              <a:t>‹#›</a:t>
            </a:fld>
            <a:endParaRPr lang="en-US"/>
          </a:p>
        </p:txBody>
      </p:sp>
    </p:spTree>
    <p:extLst>
      <p:ext uri="{BB962C8B-B14F-4D97-AF65-F5344CB8AC3E}">
        <p14:creationId xmlns:p14="http://schemas.microsoft.com/office/powerpoint/2010/main" val="29203004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Tên loại: </a:t>
            </a:r>
            <a:r>
              <a:rPr lang="en-US"/>
              <a:t>Size: 48; Font: SVN Gilroy </a:t>
            </a:r>
            <a:r>
              <a:rPr lang="en-US" err="1"/>
              <a:t>Xbold</a:t>
            </a:r>
            <a:r>
              <a:rPr lang="en-US"/>
              <a:t>, In </a:t>
            </a:r>
            <a:r>
              <a:rPr lang="en-US" err="1"/>
              <a:t>hoa</a:t>
            </a:r>
            <a:r>
              <a:rPr lang="en-US"/>
              <a:t> </a:t>
            </a:r>
            <a:r>
              <a:rPr lang="en-US" err="1"/>
              <a:t>tất</a:t>
            </a:r>
            <a:r>
              <a:rPr lang="en-US"/>
              <a:t> </a:t>
            </a:r>
            <a:r>
              <a:rPr lang="en-US" err="1"/>
              <a:t>cả</a:t>
            </a:r>
            <a:endParaRPr lang="vi-VN"/>
          </a:p>
          <a:p>
            <a:r>
              <a:rPr lang="vi-VN"/>
              <a:t>Năm - ngành: </a:t>
            </a:r>
            <a:r>
              <a:rPr lang="en-US"/>
              <a:t>36</a:t>
            </a:r>
            <a:r>
              <a:rPr lang="vi-VN"/>
              <a:t> (Năm</a:t>
            </a:r>
            <a:r>
              <a:rPr lang="en-US"/>
              <a:t>: SVN Gilroy </a:t>
            </a:r>
            <a:r>
              <a:rPr lang="en-US" err="1"/>
              <a:t>Semibold</a:t>
            </a:r>
            <a:r>
              <a:rPr lang="en-US"/>
              <a:t> +</a:t>
            </a:r>
            <a:r>
              <a:rPr lang="vi-VN"/>
              <a:t> </a:t>
            </a:r>
            <a:r>
              <a:rPr lang="en-US"/>
              <a:t>I</a:t>
            </a:r>
            <a:r>
              <a:rPr lang="vi-VN" err="1"/>
              <a:t>talic</a:t>
            </a:r>
            <a:r>
              <a:rPr lang="vi-VN"/>
              <a:t> – Ngành</a:t>
            </a:r>
            <a:r>
              <a:rPr lang="en-US"/>
              <a:t>:</a:t>
            </a:r>
            <a:r>
              <a:rPr lang="vi-VN"/>
              <a:t> </a:t>
            </a:r>
            <a:r>
              <a:rPr lang="en-US"/>
              <a:t>SVN Gilroy + Bold</a:t>
            </a:r>
            <a:r>
              <a:rPr lang="vi-VN"/>
              <a:t>)</a:t>
            </a:r>
          </a:p>
          <a:p>
            <a:r>
              <a:rPr lang="vi-VN"/>
              <a:t>Tên đề tài: </a:t>
            </a:r>
            <a:r>
              <a:rPr lang="en-US"/>
              <a:t>Size: 46; Font: SVN Gilroy + Bold</a:t>
            </a:r>
            <a:endParaRPr lang="vi-VN"/>
          </a:p>
          <a:p>
            <a:r>
              <a:rPr lang="vi-VN"/>
              <a:t>Tên người thực hiện: </a:t>
            </a:r>
            <a:r>
              <a:rPr lang="en-US"/>
              <a:t>Size: 40; Font: SVN Gilroy + Italic</a:t>
            </a:r>
            <a:endParaRPr lang="vi-VN"/>
          </a:p>
          <a:p>
            <a:r>
              <a:rPr lang="vi-VN"/>
              <a:t>QR </a:t>
            </a:r>
            <a:r>
              <a:rPr lang="vi-VN" err="1"/>
              <a:t>Code</a:t>
            </a:r>
            <a:r>
              <a:rPr lang="vi-VN"/>
              <a:t>: </a:t>
            </a:r>
            <a:r>
              <a:rPr lang="en-US"/>
              <a:t>3’’ x 3’’</a:t>
            </a:r>
            <a:endParaRPr lang="vi-VN"/>
          </a:p>
          <a:p>
            <a:endParaRPr lang="vi-VN"/>
          </a:p>
          <a:p>
            <a:r>
              <a:rPr lang="vi-VN"/>
              <a:t>Tên loại đề tài:</a:t>
            </a:r>
          </a:p>
          <a:p>
            <a:pPr marL="228600" indent="-228600">
              <a:buAutoNum type="arabicPeriod"/>
            </a:pPr>
            <a:r>
              <a:rPr lang="vi-VN"/>
              <a:t>ĐỀ TÀI NGHIÊN CỨU KHOA HỌC</a:t>
            </a:r>
          </a:p>
          <a:p>
            <a:pPr marL="228600" indent="-228600">
              <a:buAutoNum type="arabicPeriod"/>
            </a:pPr>
            <a:r>
              <a:rPr lang="vi-VN"/>
              <a:t>KHÓA LUẬN TỐT NGHIỆP</a:t>
            </a:r>
          </a:p>
          <a:p>
            <a:pPr marL="228600" indent="-228600">
              <a:buAutoNum type="arabicPeriod"/>
            </a:pPr>
            <a:r>
              <a:rPr lang="vi-VN"/>
              <a:t>BÀI BÁO KHOA HỌC</a:t>
            </a:r>
          </a:p>
          <a:p>
            <a:pPr marL="228600" indent="-228600">
              <a:buAutoNum type="arabicPeriod"/>
            </a:pPr>
            <a:r>
              <a:rPr lang="vi-VN"/>
              <a:t>NGHIÊN CỨU DOANH NGHIỆP</a:t>
            </a:r>
            <a:endParaRPr lang="en-US"/>
          </a:p>
        </p:txBody>
      </p:sp>
      <p:sp>
        <p:nvSpPr>
          <p:cNvPr id="4" name="Slide Number Placeholder 3"/>
          <p:cNvSpPr>
            <a:spLocks noGrp="1"/>
          </p:cNvSpPr>
          <p:nvPr>
            <p:ph type="sldNum" sz="quarter" idx="5"/>
          </p:nvPr>
        </p:nvSpPr>
        <p:spPr/>
        <p:txBody>
          <a:bodyPr/>
          <a:lstStyle/>
          <a:p>
            <a:fld id="{5381D160-6648-4A4C-BEA5-3FB406DFE130}" type="slidenum">
              <a:rPr lang="en-US" smtClean="0"/>
              <a:t>1</a:t>
            </a:fld>
            <a:endParaRPr lang="en-US"/>
          </a:p>
        </p:txBody>
      </p:sp>
    </p:spTree>
    <p:extLst>
      <p:ext uri="{BB962C8B-B14F-4D97-AF65-F5344CB8AC3E}">
        <p14:creationId xmlns:p14="http://schemas.microsoft.com/office/powerpoint/2010/main" val="26158987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t>7/7/2026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t>7/7/2026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t>7/7/2026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t>7/7/2026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t>7/7/2026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t>7/7/2026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t>7/7/2026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43" name="TextBox 61">
            <a:extLst>
              <a:ext uri="{FF2B5EF4-FFF2-40B4-BE49-F238E27FC236}">
                <a16:creationId xmlns:a16="http://schemas.microsoft.com/office/drawing/2014/main" id="{FFB524AB-E206-8A53-B054-FEFDD32D87E6}"/>
              </a:ext>
            </a:extLst>
          </p:cNvPr>
          <p:cNvSpPr txBox="1"/>
          <p:nvPr/>
        </p:nvSpPr>
        <p:spPr>
          <a:xfrm>
            <a:off x="1230630" y="1751334"/>
            <a:ext cx="10439400" cy="665567"/>
          </a:xfrm>
          <a:prstGeom prst="rect">
            <a:avLst/>
          </a:prstGeom>
        </p:spPr>
        <p:txBody>
          <a:bodyPr wrap="square" lIns="0" tIns="0" rIns="0" bIns="0" rtlCol="0" anchor="t">
            <a:spAutoFit/>
          </a:bodyPr>
          <a:lstStyle/>
          <a:p>
            <a:pPr>
              <a:lnSpc>
                <a:spcPts val="5900"/>
              </a:lnSpc>
            </a:pPr>
            <a:r>
              <a:rPr lang="en-US" sz="3600" i="1" dirty="0">
                <a:solidFill>
                  <a:schemeClr val="bg1"/>
                </a:solidFill>
                <a:latin typeface="SVN-Gilroy SemiBold" panose="00000700000000000000" pitchFamily="50" charset="0"/>
              </a:rPr>
              <a:t>Năm triển khai: 2026</a:t>
            </a:r>
            <a:endParaRPr lang="en-US" sz="3600" b="1" dirty="0">
              <a:solidFill>
                <a:schemeClr val="bg1"/>
              </a:solidFill>
              <a:latin typeface="SVN-Gilroy" panose="00000500000000000000" pitchFamily="50" charset="0"/>
            </a:endParaRPr>
          </a:p>
        </p:txBody>
      </p:sp>
      <p:sp>
        <p:nvSpPr>
          <p:cNvPr id="44" name="TextBox 61">
            <a:extLst>
              <a:ext uri="{FF2B5EF4-FFF2-40B4-BE49-F238E27FC236}">
                <a16:creationId xmlns:a16="http://schemas.microsoft.com/office/drawing/2014/main" id="{EE182F7A-B8C0-C789-7F13-A591F7A1D3B5}"/>
              </a:ext>
            </a:extLst>
          </p:cNvPr>
          <p:cNvSpPr txBox="1"/>
          <p:nvPr/>
        </p:nvSpPr>
        <p:spPr>
          <a:xfrm>
            <a:off x="1230630" y="903737"/>
            <a:ext cx="10439400" cy="729943"/>
          </a:xfrm>
          <a:prstGeom prst="rect">
            <a:avLst/>
          </a:prstGeom>
        </p:spPr>
        <p:txBody>
          <a:bodyPr wrap="square" lIns="0" tIns="0" rIns="0" bIns="0" rtlCol="0" anchor="t">
            <a:spAutoFit/>
          </a:bodyPr>
          <a:lstStyle/>
          <a:p>
            <a:pPr>
              <a:lnSpc>
                <a:spcPts val="5900"/>
              </a:lnSpc>
            </a:pPr>
            <a:r>
              <a:rPr lang="en-US" sz="4800" dirty="0">
                <a:solidFill>
                  <a:schemeClr val="bg1"/>
                </a:solidFill>
                <a:latin typeface="SVN-Gilroy XBold" panose="00000900000000000000" pitchFamily="50" charset="0"/>
              </a:rPr>
              <a:t>KHÓA LUẬN TỐT NGHIỆP</a:t>
            </a:r>
          </a:p>
        </p:txBody>
      </p:sp>
      <p:sp>
        <p:nvSpPr>
          <p:cNvPr id="51" name="TextBox 61">
            <a:extLst>
              <a:ext uri="{FF2B5EF4-FFF2-40B4-BE49-F238E27FC236}">
                <a16:creationId xmlns:a16="http://schemas.microsoft.com/office/drawing/2014/main" id="{22A9F62E-1C19-EAB8-7EF1-669868BF5F4F}"/>
              </a:ext>
            </a:extLst>
          </p:cNvPr>
          <p:cNvSpPr txBox="1"/>
          <p:nvPr/>
        </p:nvSpPr>
        <p:spPr>
          <a:xfrm>
            <a:off x="1230630" y="3175000"/>
            <a:ext cx="15167610" cy="1513235"/>
          </a:xfrm>
          <a:prstGeom prst="rect">
            <a:avLst/>
          </a:prstGeom>
        </p:spPr>
        <p:txBody>
          <a:bodyPr wrap="square" lIns="0" tIns="0" rIns="0" bIns="0" rtlCol="0" anchor="t">
            <a:spAutoFit/>
          </a:bodyPr>
          <a:lstStyle/>
          <a:p>
            <a:pPr>
              <a:lnSpc>
                <a:spcPts val="5900"/>
              </a:lnSpc>
            </a:pPr>
            <a:r>
              <a:rPr lang="en-US" sz="4600" b="1" dirty="0">
                <a:solidFill>
                  <a:schemeClr val="bg1"/>
                </a:solidFill>
                <a:latin typeface="SVN-Gilroy" panose="00000500000000000000" pitchFamily="50" charset="0"/>
              </a:rPr>
              <a:t>Đề tài: Hệ Thống Chấm Bài Trực Tuyến – TDTUOJ</a:t>
            </a:r>
          </a:p>
        </p:txBody>
      </p:sp>
      <p:sp>
        <p:nvSpPr>
          <p:cNvPr id="53" name="TextBox 61">
            <a:extLst>
              <a:ext uri="{FF2B5EF4-FFF2-40B4-BE49-F238E27FC236}">
                <a16:creationId xmlns:a16="http://schemas.microsoft.com/office/drawing/2014/main" id="{4B8B1A7E-64CB-EE78-F2E7-700E001C65C8}"/>
              </a:ext>
            </a:extLst>
          </p:cNvPr>
          <p:cNvSpPr txBox="1"/>
          <p:nvPr/>
        </p:nvSpPr>
        <p:spPr>
          <a:xfrm>
            <a:off x="1206610" y="5085383"/>
            <a:ext cx="15167610" cy="684418"/>
          </a:xfrm>
          <a:prstGeom prst="rect">
            <a:avLst/>
          </a:prstGeom>
        </p:spPr>
        <p:txBody>
          <a:bodyPr wrap="square" lIns="0" tIns="0" rIns="0" bIns="0" rtlCol="0" anchor="t">
            <a:spAutoFit/>
          </a:bodyPr>
          <a:lstStyle/>
          <a:p>
            <a:pPr>
              <a:lnSpc>
                <a:spcPts val="5900"/>
              </a:lnSpc>
            </a:pPr>
            <a:r>
              <a:rPr lang="vi-VN" sz="4000" i="1" dirty="0">
                <a:solidFill>
                  <a:schemeClr val="bg1"/>
                </a:solidFill>
                <a:latin typeface="SVN-Gilroy" panose="00000500000000000000" pitchFamily="50" charset="0"/>
              </a:rPr>
              <a:t>Hồ Nguyễn An Khang¹, Doãn Xuân Thanh*</a:t>
            </a:r>
          </a:p>
        </p:txBody>
      </p:sp>
      <p:sp>
        <p:nvSpPr>
          <p:cNvPr id="2" name="TextBox 61">
            <a:extLst>
              <a:ext uri="{FF2B5EF4-FFF2-40B4-BE49-F238E27FC236}">
                <a16:creationId xmlns:a16="http://schemas.microsoft.com/office/drawing/2014/main" id="{F33B20A4-1FB8-B4BA-5EDF-5F41AA8FE9C1}"/>
              </a:ext>
            </a:extLst>
          </p:cNvPr>
          <p:cNvSpPr txBox="1"/>
          <p:nvPr/>
        </p:nvSpPr>
        <p:spPr>
          <a:xfrm>
            <a:off x="1206610" y="6203073"/>
            <a:ext cx="15704820" cy="430887"/>
          </a:xfrm>
          <a:prstGeom prst="rect">
            <a:avLst/>
          </a:prstGeom>
        </p:spPr>
        <p:txBody>
          <a:bodyPr wrap="square" lIns="0" tIns="0" rIns="0" bIns="0" rtlCol="0" anchor="t">
            <a:spAutoFit/>
          </a:bodyPr>
          <a:lstStyle/>
          <a:p>
            <a:r>
              <a:rPr lang="vi-VN" sz="2800" i="1" baseline="30000">
                <a:solidFill>
                  <a:schemeClr val="bg1"/>
                </a:solidFill>
                <a:latin typeface="SVN-Gilroy" panose="00000500000000000000" pitchFamily="50" charset="0"/>
              </a:rPr>
              <a:t>¹ Sinh viên ngành Kỹ thuật phần mềm, *GVHD Khoa Công nghệ thông tin</a:t>
            </a:r>
          </a:p>
        </p:txBody>
      </p:sp>
      <p:graphicFrame>
        <p:nvGraphicFramePr>
          <p:cNvPr id="3" name="Table 2"/>
          <p:cNvGraphicFramePr>
            <a:graphicFrameLocks noGrp="1"/>
          </p:cNvGraphicFramePr>
          <p:nvPr>
            <p:extLst>
              <p:ext uri="{D42A27DB-BD31-4B8C-83A1-F6EECF244321}">
                <p14:modId xmlns:p14="http://schemas.microsoft.com/office/powerpoint/2010/main" val="3442736610"/>
              </p:ext>
            </p:extLst>
          </p:nvPr>
        </p:nvGraphicFramePr>
        <p:xfrm>
          <a:off x="1934320" y="7899401"/>
          <a:ext cx="17515730" cy="18347117"/>
        </p:xfrm>
        <a:graphic>
          <a:graphicData uri="http://schemas.openxmlformats.org/drawingml/2006/table">
            <a:tbl>
              <a:tblPr firstRow="1" bandRow="1">
                <a:tableStyleId>{5C22544A-7EE6-4342-B048-85BDC9FD1C3A}</a:tableStyleId>
              </a:tblPr>
              <a:tblGrid>
                <a:gridCol w="8757865">
                  <a:extLst>
                    <a:ext uri="{9D8B030D-6E8A-4147-A177-3AD203B41FA5}">
                      <a16:colId xmlns:a16="http://schemas.microsoft.com/office/drawing/2014/main" val="20000"/>
                    </a:ext>
                  </a:extLst>
                </a:gridCol>
                <a:gridCol w="8757865">
                  <a:extLst>
                    <a:ext uri="{9D8B030D-6E8A-4147-A177-3AD203B41FA5}">
                      <a16:colId xmlns:a16="http://schemas.microsoft.com/office/drawing/2014/main" val="20001"/>
                    </a:ext>
                  </a:extLst>
                </a:gridCol>
              </a:tblGrid>
              <a:tr h="7619999">
                <a:tc>
                  <a:txBody>
                    <a:bodyPr/>
                    <a:lstStyle/>
                    <a:p>
                      <a:r>
                        <a:rPr sz="2800" b="1" dirty="0">
                          <a:solidFill>
                            <a:srgbClr val="0070C0"/>
                          </a:solidFill>
                          <a:latin typeface="SVN-Gilroy"/>
                        </a:rPr>
                        <a:t>TÓM TẮT</a:t>
                      </a:r>
                    </a:p>
                    <a:p>
                      <a:r>
                        <a:rPr lang="vi-VN" sz="2200" b="0" dirty="0">
                          <a:solidFill>
                            <a:srgbClr val="1A1A1A"/>
                          </a:solidFill>
                          <a:latin typeface="SVN-Gilroy"/>
                        </a:rPr>
                        <a:t>TDTUOJ là hệ thống chấm bài lập trình trực tuyến, tự động hóa việc chấm bài và tổ chức thi đấu cho ba nhóm người dùng: sinh viên, giảng viên và quản trị viên.</a:t>
                      </a:r>
                    </a:p>
                    <a:p>
                      <a:r>
                        <a:rPr lang="vi-VN" sz="2200" b="0" dirty="0">
                          <a:solidFill>
                            <a:srgbClr val="1A1A1A"/>
                          </a:solidFill>
                          <a:latin typeface="SVN-Gilroy"/>
                        </a:rPr>
                        <a:t>Bài nộp được chấm tự động trong sandbox cô lập Judge0 với sáu ngôn ngữ (C, C++, C#, Java, JavaScript, Python), xử lý bất đồng bộ qua hàng đợi Redis; kèm hai tính năng học tập nổi bật: trực quan hóa cấu trúc dữ liệu và gợi ý bằng mô hình ngôn ngữ lớn (LLM).</a:t>
                      </a:r>
                    </a:p>
                    <a:p>
                      <a:r>
                        <a:rPr lang="vi-VN" sz="2200" b="0" dirty="0">
                          <a:solidFill>
                            <a:srgbClr val="1A1A1A"/>
                          </a:solidFill>
                          <a:latin typeface="SVN-Gilroy"/>
                        </a:rPr>
                        <a:t>Công nghệ: Java 21 – Spring Boot, React 19, PostgreSQL, Redis, Docker, Judge0, AWS S3, Gemini, Prometheus – Grafana, GitHub Actions, Azure.</a:t>
                      </a:r>
                    </a:p>
                    <a:p>
                      <a:endParaRPr lang="en-US" sz="2200" b="0" dirty="0">
                        <a:solidFill>
                          <a:srgbClr val="1A1A1A"/>
                        </a:solidFill>
                        <a:latin typeface="SVN-Gilroy"/>
                      </a:endParaRPr>
                    </a:p>
                    <a:p>
                      <a:r>
                        <a:rPr lang="vi-VN" sz="2800" b="1" dirty="0">
                          <a:solidFill>
                            <a:srgbClr val="0070C0"/>
                          </a:solidFill>
                          <a:latin typeface="SVN-Gilroy"/>
                        </a:rPr>
                        <a:t>TÍNH NĂNG CHÍNH</a:t>
                      </a:r>
                    </a:p>
                    <a:p>
                      <a:r>
                        <a:rPr lang="vi-VN" sz="2200" b="0" dirty="0">
                          <a:solidFill>
                            <a:srgbClr val="1A1A1A"/>
                          </a:solidFill>
                          <a:latin typeface="SVN-Gilroy"/>
                        </a:rPr>
                        <a:t>• Nộp &amp; chấm bài tự động sáu ngôn ngữ trong sandbox Judge0</a:t>
                      </a:r>
                    </a:p>
                    <a:p>
                      <a:r>
                        <a:rPr lang="vi-VN" sz="2200" b="0" dirty="0">
                          <a:solidFill>
                            <a:srgbClr val="1A1A1A"/>
                          </a:solidFill>
                          <a:latin typeface="SVN-Gilroy"/>
                        </a:rPr>
                        <a:t>• Cuộc thi ICPC/IOI, bảng xếp hạng thời gian thực (cache Redis)</a:t>
                      </a:r>
                    </a:p>
                    <a:p>
                      <a:r>
                        <a:rPr lang="vi-VN" sz="2200" b="0" dirty="0">
                          <a:solidFill>
                            <a:srgbClr val="1A1A1A"/>
                          </a:solidFill>
                          <a:latin typeface="SVN-Gilroy"/>
                        </a:rPr>
                        <a:t>• Điểm rating theo biến thể Elo, cập nhật sau mỗi cuộc thi</a:t>
                      </a:r>
                    </a:p>
                    <a:p>
                      <a:r>
                        <a:rPr lang="vi-VN" sz="2200" b="0" dirty="0">
                          <a:solidFill>
                            <a:srgbClr val="1A1A1A"/>
                          </a:solidFill>
                          <a:latin typeface="SVN-Gilroy"/>
                        </a:rPr>
                        <a:t>• Quản lý tổ chức, lớp học, bài thực hành và theo dõi tiến độ</a:t>
                      </a:r>
                    </a:p>
                    <a:p>
                      <a:r>
                        <a:rPr lang="vi-VN" sz="2200" b="0" dirty="0">
                          <a:solidFill>
                            <a:srgbClr val="1A1A1A"/>
                          </a:solidFill>
                          <a:latin typeface="SVN-Gilroy"/>
                        </a:rPr>
                        <a:t>• Trích xuất đề bài từ PDF, sinh ca kiểm thử bằng AI</a:t>
                      </a:r>
                    </a:p>
                    <a:p>
                      <a:r>
                        <a:rPr lang="vi-VN" sz="2200" b="0" dirty="0">
                          <a:solidFill>
                            <a:srgbClr val="1A1A1A"/>
                          </a:solidFill>
                          <a:latin typeface="SVN-Gilroy"/>
                        </a:rPr>
                        <a:t>• Xác thực JWT, phân quyền ba vai trò, giới hạn tần suất truy cập</a:t>
                      </a:r>
                    </a:p>
                    <a:p>
                      <a:r>
                        <a:rPr lang="vi-VN" sz="2200" b="0" dirty="0">
                          <a:solidFill>
                            <a:srgbClr val="1A1A1A"/>
                          </a:solidFill>
                          <a:latin typeface="SVN-Gilroy"/>
                        </a:rPr>
                        <a:t>• Hồ sơ năng lực, biểu đồ nhiệt hoạt động, ngân hàng bài toán</a:t>
                      </a:r>
                    </a:p>
                    <a:p>
                      <a:endParaRPr sz="2200" b="0" dirty="0">
                        <a:solidFill>
                          <a:srgbClr val="1A1A1A"/>
                        </a:solidFill>
                        <a:latin typeface="SVN-Gilroy"/>
                      </a:endParaRPr>
                    </a:p>
                  </a:txBody>
                  <a:tcPr marL="274320" marR="274320" marT="137160" marB="13716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sz="2800" b="1" dirty="0">
                          <a:solidFill>
                            <a:srgbClr val="0070C0"/>
                          </a:solidFill>
                          <a:latin typeface="SVN-Gilroy"/>
                        </a:rPr>
                        <a:t>KIẾN TRÚC HỆ THỐNG</a:t>
                      </a:r>
                    </a:p>
                    <a:p>
                      <a:r>
                        <a:rPr lang="en-US" sz="2200" b="0" dirty="0">
                          <a:solidFill>
                            <a:srgbClr val="1A1A1A"/>
                          </a:solidFill>
                          <a:latin typeface="SVN-Gilroy"/>
                        </a:rPr>
                        <a:t>Frontend (React SPA) </a:t>
                      </a:r>
                      <a:r>
                        <a:rPr lang="en-US" sz="2200" b="0" dirty="0" err="1">
                          <a:solidFill>
                            <a:srgbClr val="1A1A1A"/>
                          </a:solidFill>
                          <a:latin typeface="SVN-Gilroy"/>
                        </a:rPr>
                        <a:t>và</a:t>
                      </a:r>
                      <a:r>
                        <a:rPr lang="en-US" sz="2200" b="0" dirty="0">
                          <a:solidFill>
                            <a:srgbClr val="1A1A1A"/>
                          </a:solidFill>
                          <a:latin typeface="SVN-Gilroy"/>
                        </a:rPr>
                        <a:t> backend (Spring Boot) </a:t>
                      </a:r>
                      <a:r>
                        <a:rPr lang="en-US" sz="2200" b="0" dirty="0" err="1">
                          <a:solidFill>
                            <a:srgbClr val="1A1A1A"/>
                          </a:solidFill>
                          <a:latin typeface="SVN-Gilroy"/>
                        </a:rPr>
                        <a:t>tách</a:t>
                      </a:r>
                      <a:r>
                        <a:rPr lang="en-US" sz="2200" b="0" dirty="0">
                          <a:solidFill>
                            <a:srgbClr val="1A1A1A"/>
                          </a:solidFill>
                          <a:latin typeface="SVN-Gilroy"/>
                        </a:rPr>
                        <a:t> </a:t>
                      </a:r>
                      <a:r>
                        <a:rPr lang="en-US" sz="2200" b="0" dirty="0" err="1">
                          <a:solidFill>
                            <a:srgbClr val="1A1A1A"/>
                          </a:solidFill>
                          <a:latin typeface="SVN-Gilroy"/>
                        </a:rPr>
                        <a:t>biệt</a:t>
                      </a:r>
                      <a:r>
                        <a:rPr lang="en-US" sz="2200" b="0" dirty="0">
                          <a:solidFill>
                            <a:srgbClr val="1A1A1A"/>
                          </a:solidFill>
                          <a:latin typeface="SVN-Gilroy"/>
                        </a:rPr>
                        <a:t>, </a:t>
                      </a:r>
                      <a:r>
                        <a:rPr lang="en-US" sz="2200" b="0" dirty="0" err="1">
                          <a:solidFill>
                            <a:srgbClr val="1A1A1A"/>
                          </a:solidFill>
                          <a:latin typeface="SVN-Gilroy"/>
                        </a:rPr>
                        <a:t>giao</a:t>
                      </a:r>
                      <a:r>
                        <a:rPr lang="en-US" sz="2200" b="0" dirty="0">
                          <a:solidFill>
                            <a:srgbClr val="1A1A1A"/>
                          </a:solidFill>
                          <a:latin typeface="SVN-Gilroy"/>
                        </a:rPr>
                        <a:t> </a:t>
                      </a:r>
                      <a:r>
                        <a:rPr lang="en-US" sz="2200" b="0" dirty="0" err="1">
                          <a:solidFill>
                            <a:srgbClr val="1A1A1A"/>
                          </a:solidFill>
                          <a:latin typeface="SVN-Gilroy"/>
                        </a:rPr>
                        <a:t>tiếp</a:t>
                      </a:r>
                      <a:r>
                        <a:rPr lang="en-US" sz="2200" b="0" dirty="0">
                          <a:solidFill>
                            <a:srgbClr val="1A1A1A"/>
                          </a:solidFill>
                          <a:latin typeface="SVN-Gilroy"/>
                        </a:rPr>
                        <a:t> qua REST API </a:t>
                      </a:r>
                      <a:r>
                        <a:rPr lang="en-US" sz="2200" b="0" dirty="0" err="1">
                          <a:solidFill>
                            <a:srgbClr val="1A1A1A"/>
                          </a:solidFill>
                          <a:latin typeface="SVN-Gilroy"/>
                        </a:rPr>
                        <a:t>không</a:t>
                      </a:r>
                      <a:r>
                        <a:rPr lang="en-US" sz="2200" b="0" dirty="0">
                          <a:solidFill>
                            <a:srgbClr val="1A1A1A"/>
                          </a:solidFill>
                          <a:latin typeface="SVN-Gilroy"/>
                        </a:rPr>
                        <a:t> </a:t>
                      </a:r>
                      <a:r>
                        <a:rPr lang="en-US" sz="2200" b="0" dirty="0" err="1">
                          <a:solidFill>
                            <a:srgbClr val="1A1A1A"/>
                          </a:solidFill>
                          <a:latin typeface="SVN-Gilroy"/>
                        </a:rPr>
                        <a:t>trạng</a:t>
                      </a:r>
                      <a:r>
                        <a:rPr lang="en-US" sz="2200" b="0" dirty="0">
                          <a:solidFill>
                            <a:srgbClr val="1A1A1A"/>
                          </a:solidFill>
                          <a:latin typeface="SVN-Gilroy"/>
                        </a:rPr>
                        <a:t> </a:t>
                      </a:r>
                      <a:r>
                        <a:rPr lang="en-US" sz="2200" b="0" dirty="0" err="1">
                          <a:solidFill>
                            <a:srgbClr val="1A1A1A"/>
                          </a:solidFill>
                          <a:latin typeface="SVN-Gilroy"/>
                        </a:rPr>
                        <a:t>thái</a:t>
                      </a:r>
                      <a:r>
                        <a:rPr lang="en-US" sz="2200" b="0" dirty="0">
                          <a:solidFill>
                            <a:srgbClr val="1A1A1A"/>
                          </a:solidFill>
                          <a:latin typeface="SVN-Gilroy"/>
                        </a:rPr>
                        <a:t> (JWT); </a:t>
                      </a:r>
                      <a:r>
                        <a:rPr lang="en-US" sz="2200" b="0" dirty="0" err="1">
                          <a:solidFill>
                            <a:srgbClr val="1A1A1A"/>
                          </a:solidFill>
                          <a:latin typeface="SVN-Gilroy"/>
                        </a:rPr>
                        <a:t>tích</a:t>
                      </a:r>
                      <a:r>
                        <a:rPr lang="en-US" sz="2200" b="0" dirty="0">
                          <a:solidFill>
                            <a:srgbClr val="1A1A1A"/>
                          </a:solidFill>
                          <a:latin typeface="SVN-Gilroy"/>
                        </a:rPr>
                        <a:t> </a:t>
                      </a:r>
                      <a:r>
                        <a:rPr lang="en-US" sz="2200" b="0" dirty="0" err="1">
                          <a:solidFill>
                            <a:srgbClr val="1A1A1A"/>
                          </a:solidFill>
                          <a:latin typeface="SVN-Gilroy"/>
                        </a:rPr>
                        <a:t>hợp</a:t>
                      </a:r>
                      <a:r>
                        <a:rPr lang="en-US" sz="2200" b="0" dirty="0">
                          <a:solidFill>
                            <a:srgbClr val="1A1A1A"/>
                          </a:solidFill>
                          <a:latin typeface="SVN-Gilroy"/>
                        </a:rPr>
                        <a:t> Judge0, PostgreSQL, Redis, AWS S3 </a:t>
                      </a:r>
                      <a:r>
                        <a:rPr lang="en-US" sz="2200" b="0" dirty="0" err="1">
                          <a:solidFill>
                            <a:srgbClr val="1A1A1A"/>
                          </a:solidFill>
                          <a:latin typeface="SVN-Gilroy"/>
                        </a:rPr>
                        <a:t>và</a:t>
                      </a:r>
                      <a:r>
                        <a:rPr lang="en-US" sz="2200" b="0" dirty="0">
                          <a:solidFill>
                            <a:srgbClr val="1A1A1A"/>
                          </a:solidFill>
                          <a:latin typeface="SVN-Gilroy"/>
                        </a:rPr>
                        <a:t> </a:t>
                      </a:r>
                      <a:r>
                        <a:rPr lang="en-US" sz="2200" b="0" dirty="0" err="1">
                          <a:solidFill>
                            <a:srgbClr val="1A1A1A"/>
                          </a:solidFill>
                          <a:latin typeface="SVN-Gilroy"/>
                        </a:rPr>
                        <a:t>dịch</a:t>
                      </a:r>
                      <a:r>
                        <a:rPr lang="en-US" sz="2200" b="0" dirty="0">
                          <a:solidFill>
                            <a:srgbClr val="1A1A1A"/>
                          </a:solidFill>
                          <a:latin typeface="SVN-Gilroy"/>
                        </a:rPr>
                        <a:t> </a:t>
                      </a:r>
                      <a:r>
                        <a:rPr lang="en-US" sz="2200" b="0" dirty="0" err="1">
                          <a:solidFill>
                            <a:srgbClr val="1A1A1A"/>
                          </a:solidFill>
                          <a:latin typeface="SVN-Gilroy"/>
                        </a:rPr>
                        <a:t>vụ</a:t>
                      </a:r>
                      <a:r>
                        <a:rPr lang="en-US" sz="2200" b="0" dirty="0">
                          <a:solidFill>
                            <a:srgbClr val="1A1A1A"/>
                          </a:solidFill>
                          <a:latin typeface="SVN-Gilroy"/>
                        </a:rPr>
                        <a:t> LLM; </a:t>
                      </a:r>
                      <a:r>
                        <a:rPr lang="en-US" sz="2200" b="0" dirty="0" err="1">
                          <a:solidFill>
                            <a:srgbClr val="1A1A1A"/>
                          </a:solidFill>
                          <a:latin typeface="SVN-Gilroy"/>
                        </a:rPr>
                        <a:t>đóng</a:t>
                      </a:r>
                      <a:r>
                        <a:rPr lang="en-US" sz="2200" b="0" dirty="0">
                          <a:solidFill>
                            <a:srgbClr val="1A1A1A"/>
                          </a:solidFill>
                          <a:latin typeface="SVN-Gilroy"/>
                        </a:rPr>
                        <a:t> </a:t>
                      </a:r>
                      <a:r>
                        <a:rPr lang="en-US" sz="2200" b="0" dirty="0" err="1">
                          <a:solidFill>
                            <a:srgbClr val="1A1A1A"/>
                          </a:solidFill>
                          <a:latin typeface="SVN-Gilroy"/>
                        </a:rPr>
                        <a:t>gói</a:t>
                      </a:r>
                      <a:r>
                        <a:rPr lang="en-US" sz="2200" b="0" dirty="0">
                          <a:solidFill>
                            <a:srgbClr val="1A1A1A"/>
                          </a:solidFill>
                          <a:latin typeface="SVN-Gilroy"/>
                        </a:rPr>
                        <a:t> Docker, </a:t>
                      </a:r>
                      <a:r>
                        <a:rPr lang="en-US" sz="2200" b="0" dirty="0" err="1">
                          <a:solidFill>
                            <a:srgbClr val="1A1A1A"/>
                          </a:solidFill>
                          <a:latin typeface="SVN-Gilroy"/>
                        </a:rPr>
                        <a:t>triển</a:t>
                      </a:r>
                      <a:r>
                        <a:rPr lang="en-US" sz="2200" b="0" dirty="0">
                          <a:solidFill>
                            <a:srgbClr val="1A1A1A"/>
                          </a:solidFill>
                          <a:latin typeface="SVN-Gilroy"/>
                        </a:rPr>
                        <a:t> </a:t>
                      </a:r>
                      <a:r>
                        <a:rPr lang="en-US" sz="2200" b="0" dirty="0" err="1">
                          <a:solidFill>
                            <a:srgbClr val="1A1A1A"/>
                          </a:solidFill>
                          <a:latin typeface="SVN-Gilroy"/>
                        </a:rPr>
                        <a:t>khai</a:t>
                      </a:r>
                      <a:r>
                        <a:rPr lang="en-US" sz="2200" b="0" dirty="0">
                          <a:solidFill>
                            <a:srgbClr val="1A1A1A"/>
                          </a:solidFill>
                          <a:latin typeface="SVN-Gilroy"/>
                        </a:rPr>
                        <a:t> </a:t>
                      </a:r>
                      <a:r>
                        <a:rPr lang="en-US" sz="2200" b="0" dirty="0" err="1">
                          <a:solidFill>
                            <a:srgbClr val="1A1A1A"/>
                          </a:solidFill>
                          <a:latin typeface="SVN-Gilroy"/>
                        </a:rPr>
                        <a:t>trên</a:t>
                      </a:r>
                      <a:r>
                        <a:rPr lang="en-US" sz="2200" b="0" dirty="0">
                          <a:solidFill>
                            <a:srgbClr val="1A1A1A"/>
                          </a:solidFill>
                          <a:latin typeface="SVN-Gilroy"/>
                        </a:rPr>
                        <a:t> Azure </a:t>
                      </a:r>
                      <a:r>
                        <a:rPr lang="en-US" sz="2200" b="0" dirty="0" err="1">
                          <a:solidFill>
                            <a:srgbClr val="1A1A1A"/>
                          </a:solidFill>
                          <a:latin typeface="SVN-Gilroy"/>
                        </a:rPr>
                        <a:t>với</a:t>
                      </a:r>
                      <a:r>
                        <a:rPr lang="en-US" sz="2200" b="0" dirty="0">
                          <a:solidFill>
                            <a:srgbClr val="1A1A1A"/>
                          </a:solidFill>
                          <a:latin typeface="SVN-Gilroy"/>
                        </a:rPr>
                        <a:t> CI/CD GitHub Actions.</a:t>
                      </a:r>
                    </a:p>
                  </a:txBody>
                  <a:tcPr marL="274320" marR="274320" marT="137160" marB="13716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4267200">
                <a:tc>
                  <a:txBody>
                    <a:bodyPr/>
                    <a:lstStyle/>
                    <a:p>
                      <a:endParaRPr sz="2200" b="0" dirty="0">
                        <a:solidFill>
                          <a:srgbClr val="1A1A1A"/>
                        </a:solidFill>
                        <a:latin typeface="SVN-Gilroy"/>
                      </a:endParaRPr>
                    </a:p>
                  </a:txBody>
                  <a:tcPr marL="274320" marR="274320" marT="137160" marB="13716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2800" b="1" dirty="0">
                        <a:solidFill>
                          <a:srgbClr val="0070C0"/>
                        </a:solidFill>
                        <a:latin typeface="SVN-Gilroy"/>
                      </a:endParaRPr>
                    </a:p>
                    <a:p>
                      <a:pPr marL="0" marR="0" indent="0" algn="l" defTabSz="914400" rtl="0" eaLnBrk="1" fontAlgn="auto" latinLnBrk="0" hangingPunct="1">
                        <a:lnSpc>
                          <a:spcPct val="100000"/>
                        </a:lnSpc>
                        <a:spcBef>
                          <a:spcPts val="0"/>
                        </a:spcBef>
                        <a:spcAft>
                          <a:spcPts val="0"/>
                        </a:spcAft>
                        <a:buClrTx/>
                        <a:buSzTx/>
                        <a:buFontTx/>
                        <a:buNone/>
                        <a:tabLst/>
                        <a:defRPr/>
                      </a:pPr>
                      <a:endParaRPr lang="en-US" sz="2800" b="1" dirty="0">
                        <a:solidFill>
                          <a:srgbClr val="0070C0"/>
                        </a:solidFill>
                        <a:latin typeface="SVN-Gilroy"/>
                      </a:endParaRPr>
                    </a:p>
                    <a:p>
                      <a:pPr marL="0" marR="0" indent="0" algn="l" defTabSz="914400" rtl="0" eaLnBrk="1" fontAlgn="auto" latinLnBrk="0" hangingPunct="1">
                        <a:lnSpc>
                          <a:spcPct val="100000"/>
                        </a:lnSpc>
                        <a:spcBef>
                          <a:spcPts val="0"/>
                        </a:spcBef>
                        <a:spcAft>
                          <a:spcPts val="0"/>
                        </a:spcAft>
                        <a:buClrTx/>
                        <a:buSzTx/>
                        <a:buFontTx/>
                        <a:buNone/>
                        <a:tabLst/>
                        <a:defRPr/>
                      </a:pPr>
                      <a:r>
                        <a:rPr sz="2800" b="1" dirty="0">
                          <a:solidFill>
                            <a:srgbClr val="0070C0"/>
                          </a:solidFill>
                          <a:latin typeface="SVN-Gilroy"/>
                        </a:rPr>
                        <a:t>HỖ TRỢ HỌC TẬP THÔNG MINH</a:t>
                      </a:r>
                    </a:p>
                    <a:p>
                      <a:r>
                        <a:rPr lang="vi-VN" sz="2000" b="0" dirty="0">
                          <a:solidFill>
                            <a:srgbClr val="1A1A1A"/>
                          </a:solidFill>
                          <a:latin typeface="SVN-Gilroy"/>
                        </a:rPr>
                        <a:t>Trình minh họa tự động chèn lệnh truy vết vào mã nguồn, thực thi trong sandbox và phát lại từng bước của mảng, ngăn xếp, hàng đợi, danh sách liên kết, cây, đồ thị; LLM phân loại vai trò của biến để chọn cách hiển thị phù hợp.</a:t>
                      </a:r>
                    </a:p>
                    <a:p>
                      <a:r>
                        <a:rPr lang="vi-VN" sz="2000" b="0" dirty="0">
                          <a:solidFill>
                            <a:srgbClr val="1A1A1A"/>
                          </a:solidFill>
                          <a:latin typeface="SVN-Gilroy"/>
                        </a:rPr>
                        <a:t>Gợi ý học tập theo mức độ tăng dần, không tiết lộ lời giải; phân tích độ phức tạp thuật toán; rào chắn từ chối câu hỏi ngoài phạm vi bài toán.</a:t>
                      </a:r>
                    </a:p>
                    <a:p>
                      <a:r>
                        <a:rPr lang="vi-VN" sz="2000" b="0" dirty="0">
                          <a:solidFill>
                            <a:srgbClr val="1A1A1A"/>
                          </a:solidFill>
                          <a:latin typeface="SVN-Gilroy"/>
                        </a:rPr>
                        <a:t>Hệ thống đã triển khai thực tế tại tdtuoj.me.</a:t>
                      </a:r>
                    </a:p>
                  </a:txBody>
                  <a:tcPr marL="274320" marR="274320" marT="137160" marB="13716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229959">
                <a:tc>
                  <a:txBody>
                    <a:bodyPr/>
                    <a:lstStyle/>
                    <a:p>
                      <a:endParaRPr lang="en-GB" sz="2800" b="1" dirty="0">
                        <a:solidFill>
                          <a:srgbClr val="0070C0"/>
                        </a:solidFill>
                        <a:latin typeface="SVN-Gilroy"/>
                      </a:endParaRPr>
                    </a:p>
                    <a:p>
                      <a:endParaRPr lang="en-GB" sz="2800" b="1" dirty="0">
                        <a:solidFill>
                          <a:srgbClr val="0070C0"/>
                        </a:solidFill>
                        <a:latin typeface="SVN-Gilroy"/>
                      </a:endParaRPr>
                    </a:p>
                    <a:p>
                      <a:endParaRPr lang="en-GB" sz="2800" b="1" dirty="0">
                        <a:solidFill>
                          <a:srgbClr val="0070C0"/>
                        </a:solidFill>
                        <a:latin typeface="SVN-Gilroy"/>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2800" b="1" dirty="0">
                          <a:solidFill>
                            <a:srgbClr val="0070C0"/>
                          </a:solidFill>
                          <a:latin typeface="SVN-Gilroy"/>
                        </a:rPr>
                        <a:t>TRỰC QUAN HÓA CẤU TRÚC DỮ LIỆU</a:t>
                      </a:r>
                      <a:endParaRPr lang="en-US" sz="3200" b="1" dirty="0">
                        <a:solidFill>
                          <a:srgbClr val="0070C0"/>
                        </a:solidFill>
                        <a:latin typeface="SVN-Gilroy"/>
                      </a:endParaRPr>
                    </a:p>
                    <a:p>
                      <a:endParaRPr lang="en-GB" sz="2800" b="1" dirty="0">
                        <a:solidFill>
                          <a:srgbClr val="0070C0"/>
                        </a:solidFill>
                        <a:latin typeface="SVN-Gilroy"/>
                      </a:endParaRPr>
                    </a:p>
                  </a:txBody>
                  <a:tcPr marL="274320" marR="274320" marT="137160" marB="13716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GB" sz="2800" dirty="0">
                        <a:solidFill>
                          <a:schemeClr val="tx1"/>
                        </a:solidFill>
                        <a:latin typeface="SVN-Gilroy"/>
                      </a:endParaRPr>
                    </a:p>
                    <a:p>
                      <a:endParaRPr lang="en-GB" sz="2800" dirty="0">
                        <a:solidFill>
                          <a:schemeClr val="tx1"/>
                        </a:solidFill>
                        <a:latin typeface="SVN-Gilroy"/>
                      </a:endParaRPr>
                    </a:p>
                    <a:p>
                      <a:endParaRPr lang="en-GB" sz="2800" dirty="0">
                        <a:solidFill>
                          <a:schemeClr val="tx1"/>
                        </a:solidFill>
                        <a:latin typeface="SVN-Gilroy"/>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2800" b="1" dirty="0">
                          <a:solidFill>
                            <a:srgbClr val="0070C0"/>
                          </a:solidFill>
                          <a:latin typeface="SVN-Gilroy"/>
                        </a:rPr>
                        <a:t>KIỂM THỬ TẢI &amp; GIÁM SÁT HIỆU NĂNG</a:t>
                      </a:r>
                      <a:endParaRPr lang="en-US" sz="3200" dirty="0">
                        <a:solidFill>
                          <a:schemeClr val="tx1"/>
                        </a:solidFill>
                        <a:latin typeface="SVN-Gilroy"/>
                      </a:endParaRPr>
                    </a:p>
                    <a:p>
                      <a:endParaRPr lang="en-GB" sz="2800" dirty="0">
                        <a:solidFill>
                          <a:schemeClr val="tx1"/>
                        </a:solidFill>
                        <a:latin typeface="SVN-Gilroy"/>
                      </a:endParaRPr>
                    </a:p>
                  </a:txBody>
                  <a:tcPr marL="274320" marR="274320" marT="137160" marB="13716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229959">
                <a:tc>
                  <a:txBody>
                    <a:bodyPr/>
                    <a:lstStyle/>
                    <a:p>
                      <a:endParaRPr lang="en-GB" sz="2800" dirty="0">
                        <a:solidFill>
                          <a:schemeClr val="tx1"/>
                        </a:solidFill>
                        <a:latin typeface="SVN-Gilroy"/>
                      </a:endParaRPr>
                    </a:p>
                  </a:txBody>
                  <a:tcPr marL="274320" marR="274320" marT="137160" marB="13716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GB" sz="2800" dirty="0">
                        <a:solidFill>
                          <a:schemeClr val="tx1"/>
                        </a:solidFill>
                        <a:latin typeface="SVN-Gilroy"/>
                      </a:endParaRPr>
                    </a:p>
                  </a:txBody>
                  <a:tcPr marL="274320" marR="274320" marT="137160" marB="13716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bl>
          </a:graphicData>
        </a:graphic>
      </p:graphicFrame>
      <p:pic>
        <p:nvPicPr>
          <p:cNvPr id="6" name="Picture 5">
            <a:extLst>
              <a:ext uri="{FF2B5EF4-FFF2-40B4-BE49-F238E27FC236}">
                <a16:creationId xmlns:a16="http://schemas.microsoft.com/office/drawing/2014/main" id="{65936978-E737-9252-72E0-A8EA208883D0}"/>
              </a:ext>
            </a:extLst>
          </p:cNvPr>
          <p:cNvPicPr>
            <a:picLocks noChangeAspect="1"/>
          </p:cNvPicPr>
          <p:nvPr/>
        </p:nvPicPr>
        <p:blipFill rotWithShape="1">
          <a:blip r:embed="rId4"/>
          <a:srcRect l="8840" t="10226" r="10373" b="10372"/>
          <a:stretch/>
        </p:blipFill>
        <p:spPr>
          <a:xfrm>
            <a:off x="17071596" y="3403600"/>
            <a:ext cx="2946118" cy="2895600"/>
          </a:xfrm>
          <a:prstGeom prst="rect">
            <a:avLst/>
          </a:prstGeom>
        </p:spPr>
      </p:pic>
      <p:pic>
        <p:nvPicPr>
          <p:cNvPr id="54" name="Picture 53" descr="architecture.png"/>
          <p:cNvPicPr>
            <a:picLocks noChangeAspect="1"/>
          </p:cNvPicPr>
          <p:nvPr/>
        </p:nvPicPr>
        <p:blipFill>
          <a:blip r:embed="rId5"/>
          <a:stretch>
            <a:fillRect/>
          </a:stretch>
        </p:blipFill>
        <p:spPr>
          <a:xfrm>
            <a:off x="11525250" y="9956506"/>
            <a:ext cx="6400800" cy="6312679"/>
          </a:xfrm>
          <a:prstGeom prst="rect">
            <a:avLst/>
          </a:prstGeom>
        </p:spPr>
      </p:pic>
      <p:pic>
        <p:nvPicPr>
          <p:cNvPr id="55" name="Picture 54" descr="ui-visualizer.png"/>
          <p:cNvPicPr>
            <a:picLocks noChangeAspect="1"/>
          </p:cNvPicPr>
          <p:nvPr/>
        </p:nvPicPr>
        <p:blipFill>
          <a:blip r:embed="rId6"/>
          <a:stretch>
            <a:fillRect/>
          </a:stretch>
        </p:blipFill>
        <p:spPr>
          <a:xfrm>
            <a:off x="2251131" y="22068790"/>
            <a:ext cx="7955279" cy="4972050"/>
          </a:xfrm>
          <a:prstGeom prst="rect">
            <a:avLst/>
          </a:prstGeom>
        </p:spPr>
      </p:pic>
      <p:pic>
        <p:nvPicPr>
          <p:cNvPr id="56" name="Picture 55" descr="grafana-dashboard.png"/>
          <p:cNvPicPr>
            <a:picLocks noChangeAspect="1"/>
          </p:cNvPicPr>
          <p:nvPr/>
        </p:nvPicPr>
        <p:blipFill>
          <a:blip r:embed="rId7"/>
          <a:stretch>
            <a:fillRect/>
          </a:stretch>
        </p:blipFill>
        <p:spPr>
          <a:xfrm>
            <a:off x="10687050" y="22068790"/>
            <a:ext cx="7955279" cy="4972050"/>
          </a:xfrm>
          <a:prstGeom prst="rect">
            <a:avLst/>
          </a:prstGeom>
        </p:spPr>
      </p:pic>
      <p:pic>
        <p:nvPicPr>
          <p:cNvPr id="7" name="Picture 6">
            <a:extLst>
              <a:ext uri="{FF2B5EF4-FFF2-40B4-BE49-F238E27FC236}">
                <a16:creationId xmlns:a16="http://schemas.microsoft.com/office/drawing/2014/main" id="{AE7B5E0E-AF73-E48A-AD01-7B3B8ED68AE6}"/>
              </a:ext>
            </a:extLst>
          </p:cNvPr>
          <p:cNvPicPr>
            <a:picLocks noChangeAspect="1"/>
          </p:cNvPicPr>
          <p:nvPr/>
        </p:nvPicPr>
        <p:blipFill>
          <a:blip r:embed="rId8"/>
          <a:stretch>
            <a:fillRect/>
          </a:stretch>
        </p:blipFill>
        <p:spPr>
          <a:xfrm>
            <a:off x="3436620" y="15018151"/>
            <a:ext cx="4104344" cy="5785198"/>
          </a:xfrm>
          <a:prstGeom prst="rect">
            <a:avLst/>
          </a:prstGeom>
        </p:spPr>
      </p:pic>
    </p:spTree>
    <p:extLst>
      <p:ext uri="{BB962C8B-B14F-4D97-AF65-F5344CB8AC3E}">
        <p14:creationId xmlns:p14="http://schemas.microsoft.com/office/powerpoint/2010/main" val="303533454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506</TotalTime>
  <Words>580</Words>
  <Application>Microsoft Office PowerPoint</Application>
  <PresentationFormat>Custom</PresentationFormat>
  <Paragraphs>46</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Arial</vt:lpstr>
      <vt:lpstr>Calibri</vt:lpstr>
      <vt:lpstr>SVN-Gilroy</vt:lpstr>
      <vt:lpstr>SVN-Gilroy SemiBold</vt:lpstr>
      <vt:lpstr>SVN-Gilroy XBold</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Poster triễn lãm NCKH_ALD</dc:title>
  <dc:creator/>
  <cp:lastModifiedBy>Khang Ho</cp:lastModifiedBy>
  <cp:revision>36</cp:revision>
  <dcterms:created xsi:type="dcterms:W3CDTF">2006-08-16T00:00:00Z</dcterms:created>
  <dcterms:modified xsi:type="dcterms:W3CDTF">2026-07-07T12:29:35Z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CCBE85ED5C844403B09966F179E09C30_13</vt:lpwstr>
  </property>
  <property fmtid="{D5CDD505-2E9C-101B-9397-08002B2CF9AE}" pid="3" name="KSOProductBuildVer">
    <vt:lpwstr>1033-12.2.0.13215</vt:lpwstr>
  </property>
</Properties>
</file>