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21374100" cy="302768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 autoAdjust="0"/>
    <p:restoredTop sz="95090" autoAdjust="0"/>
  </p:normalViewPr>
  <p:slideViewPr>
    <p:cSldViewPr showGuides="1">
      <p:cViewPr>
        <p:scale>
          <a:sx n="50" d="100"/>
          <a:sy n="50" d="100"/>
        </p:scale>
        <p:origin x="922" y="-1286"/>
      </p:cViewPr>
      <p:guideLst>
        <p:guide orient="horz" pos="214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18617-0849-4FC5-A3C6-CE0F1E79DFB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9975" y="1143000"/>
            <a:ext cx="2178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81D160-6648-4A4C-BEA5-3FB406DFE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00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Tên loại: </a:t>
            </a:r>
            <a:r>
              <a:rPr lang="en-US"/>
              <a:t>Size: 48; Font: SVN Gilroy </a:t>
            </a:r>
            <a:r>
              <a:rPr lang="en-US" err="1"/>
              <a:t>Xbold</a:t>
            </a:r>
            <a:r>
              <a:rPr lang="en-US"/>
              <a:t>, In </a:t>
            </a:r>
            <a:r>
              <a:rPr lang="en-US" err="1"/>
              <a:t>hoa</a:t>
            </a:r>
            <a:r>
              <a:rPr lang="en-US"/>
              <a:t> </a:t>
            </a:r>
            <a:r>
              <a:rPr lang="en-US" err="1"/>
              <a:t>tất</a:t>
            </a:r>
            <a:r>
              <a:rPr lang="en-US"/>
              <a:t> </a:t>
            </a:r>
            <a:r>
              <a:rPr lang="en-US" err="1"/>
              <a:t>cả</a:t>
            </a:r>
            <a:endParaRPr lang="vi-VN"/>
          </a:p>
          <a:p>
            <a:r>
              <a:rPr lang="vi-VN"/>
              <a:t>Năm - ngành: </a:t>
            </a:r>
            <a:r>
              <a:rPr lang="en-US"/>
              <a:t>36</a:t>
            </a:r>
            <a:r>
              <a:rPr lang="vi-VN"/>
              <a:t> (Năm</a:t>
            </a:r>
            <a:r>
              <a:rPr lang="en-US"/>
              <a:t>: SVN Gilroy </a:t>
            </a:r>
            <a:r>
              <a:rPr lang="en-US" err="1"/>
              <a:t>Semibold</a:t>
            </a:r>
            <a:r>
              <a:rPr lang="en-US"/>
              <a:t> +</a:t>
            </a:r>
            <a:r>
              <a:rPr lang="vi-VN"/>
              <a:t> </a:t>
            </a:r>
            <a:r>
              <a:rPr lang="en-US"/>
              <a:t>I</a:t>
            </a:r>
            <a:r>
              <a:rPr lang="vi-VN" err="1"/>
              <a:t>talic</a:t>
            </a:r>
            <a:r>
              <a:rPr lang="vi-VN"/>
              <a:t> – Ngành</a:t>
            </a:r>
            <a:r>
              <a:rPr lang="en-US"/>
              <a:t>:</a:t>
            </a:r>
            <a:r>
              <a:rPr lang="vi-VN"/>
              <a:t> </a:t>
            </a:r>
            <a:r>
              <a:rPr lang="en-US"/>
              <a:t>SVN Gilroy + Bold</a:t>
            </a:r>
            <a:r>
              <a:rPr lang="vi-VN"/>
              <a:t>)</a:t>
            </a:r>
          </a:p>
          <a:p>
            <a:r>
              <a:rPr lang="vi-VN"/>
              <a:t>Tên đề tài: </a:t>
            </a:r>
            <a:r>
              <a:rPr lang="en-US"/>
              <a:t>Size: 46; Font: SVN Gilroy + Bold</a:t>
            </a:r>
            <a:endParaRPr lang="vi-VN"/>
          </a:p>
          <a:p>
            <a:r>
              <a:rPr lang="vi-VN"/>
              <a:t>Tên người thực hiện: </a:t>
            </a:r>
            <a:r>
              <a:rPr lang="en-US"/>
              <a:t>Size: 40; Font: SVN Gilroy + Italic</a:t>
            </a:r>
            <a:endParaRPr lang="vi-VN"/>
          </a:p>
          <a:p>
            <a:r>
              <a:rPr lang="vi-VN"/>
              <a:t>QR </a:t>
            </a:r>
            <a:r>
              <a:rPr lang="vi-VN" err="1"/>
              <a:t>Code</a:t>
            </a:r>
            <a:r>
              <a:rPr lang="vi-VN"/>
              <a:t>: </a:t>
            </a:r>
            <a:r>
              <a:rPr lang="en-US"/>
              <a:t>3’’ x 3’’</a:t>
            </a:r>
            <a:endParaRPr lang="vi-VN"/>
          </a:p>
          <a:p>
            <a:endParaRPr lang="vi-VN"/>
          </a:p>
          <a:p>
            <a:r>
              <a:rPr lang="vi-VN"/>
              <a:t>Tên loại đề tài:</a:t>
            </a:r>
          </a:p>
          <a:p>
            <a:pPr marL="228600" indent="-228600">
              <a:buAutoNum type="arabicPeriod"/>
            </a:pPr>
            <a:r>
              <a:rPr lang="vi-VN"/>
              <a:t>ĐỀ TÀI NGHIÊN CỨU KHOA HỌC</a:t>
            </a:r>
          </a:p>
          <a:p>
            <a:pPr marL="228600" indent="-228600">
              <a:buAutoNum type="arabicPeriod"/>
            </a:pPr>
            <a:r>
              <a:rPr lang="vi-VN"/>
              <a:t>KHÓA LUẬN TỐT NGHIỆP</a:t>
            </a:r>
          </a:p>
          <a:p>
            <a:pPr marL="228600" indent="-228600">
              <a:buAutoNum type="arabicPeriod"/>
            </a:pPr>
            <a:r>
              <a:rPr lang="vi-VN"/>
              <a:t>BÀI BÁO KHOA HỌC</a:t>
            </a:r>
          </a:p>
          <a:p>
            <a:pPr marL="228600" indent="-228600">
              <a:buAutoNum type="arabicPeriod"/>
            </a:pPr>
            <a:r>
              <a:rPr lang="vi-VN"/>
              <a:t>NGHIÊN CỨU DOANH NGHIỆP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D160-6648-4A4C-BEA5-3FB406DFE1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98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61">
            <a:extLst>
              <a:ext uri="{FF2B5EF4-FFF2-40B4-BE49-F238E27FC236}">
                <a16:creationId xmlns:a16="http://schemas.microsoft.com/office/drawing/2014/main" id="{FFB524AB-E206-8A53-B054-FEFDD32D87E6}"/>
              </a:ext>
            </a:extLst>
          </p:cNvPr>
          <p:cNvSpPr txBox="1"/>
          <p:nvPr/>
        </p:nvSpPr>
        <p:spPr>
          <a:xfrm>
            <a:off x="1230630" y="1751334"/>
            <a:ext cx="10439400" cy="665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00"/>
              </a:lnSpc>
            </a:pPr>
            <a:r>
              <a:rPr lang="en-US" sz="3600" i="1" dirty="0">
                <a:solidFill>
                  <a:schemeClr val="bg1"/>
                </a:solidFill>
                <a:latin typeface="SVN-Gilroy SemiBold" panose="00000700000000000000" pitchFamily="50" charset="0"/>
              </a:rPr>
              <a:t>Năm triển khai: 2026</a:t>
            </a:r>
            <a:endParaRPr lang="en-US" sz="3600" b="1" dirty="0">
              <a:solidFill>
                <a:schemeClr val="bg1"/>
              </a:solidFill>
              <a:latin typeface="SVN-Gilroy" panose="00000500000000000000" pitchFamily="50" charset="0"/>
            </a:endParaRPr>
          </a:p>
        </p:txBody>
      </p:sp>
      <p:sp>
        <p:nvSpPr>
          <p:cNvPr id="44" name="TextBox 61">
            <a:extLst>
              <a:ext uri="{FF2B5EF4-FFF2-40B4-BE49-F238E27FC236}">
                <a16:creationId xmlns:a16="http://schemas.microsoft.com/office/drawing/2014/main" id="{EE182F7A-B8C0-C789-7F13-A591F7A1D3B5}"/>
              </a:ext>
            </a:extLst>
          </p:cNvPr>
          <p:cNvSpPr txBox="1"/>
          <p:nvPr/>
        </p:nvSpPr>
        <p:spPr>
          <a:xfrm>
            <a:off x="1230630" y="903737"/>
            <a:ext cx="10439400" cy="7299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00"/>
              </a:lnSpc>
            </a:pPr>
            <a:r>
              <a:rPr lang="en-US" sz="4800" dirty="0">
                <a:solidFill>
                  <a:schemeClr val="bg1"/>
                </a:solidFill>
                <a:latin typeface="SVN-Gilroy XBold" panose="00000900000000000000" pitchFamily="50" charset="0"/>
              </a:rPr>
              <a:t>KHÓA LUẬN TỐT NGHIỆP</a:t>
            </a:r>
          </a:p>
        </p:txBody>
      </p:sp>
      <p:sp>
        <p:nvSpPr>
          <p:cNvPr id="51" name="TextBox 61">
            <a:extLst>
              <a:ext uri="{FF2B5EF4-FFF2-40B4-BE49-F238E27FC236}">
                <a16:creationId xmlns:a16="http://schemas.microsoft.com/office/drawing/2014/main" id="{22A9F62E-1C19-EAB8-7EF1-669868BF5F4F}"/>
              </a:ext>
            </a:extLst>
          </p:cNvPr>
          <p:cNvSpPr txBox="1"/>
          <p:nvPr/>
        </p:nvSpPr>
        <p:spPr>
          <a:xfrm>
            <a:off x="1230630" y="3175000"/>
            <a:ext cx="15167610" cy="1513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00"/>
              </a:lnSpc>
            </a:pPr>
            <a:r>
              <a:rPr lang="en-US" sz="4600" b="1" dirty="0">
                <a:solidFill>
                  <a:schemeClr val="bg1"/>
                </a:solidFill>
                <a:latin typeface="SVN-Gilroy" panose="00000500000000000000" pitchFamily="50" charset="0"/>
              </a:rPr>
              <a:t>Đề tài: Hệ Thống Chấm Bài Trực Tuyến – TDTUOJ</a:t>
            </a:r>
          </a:p>
        </p:txBody>
      </p:sp>
      <p:sp>
        <p:nvSpPr>
          <p:cNvPr id="53" name="TextBox 61">
            <a:extLst>
              <a:ext uri="{FF2B5EF4-FFF2-40B4-BE49-F238E27FC236}">
                <a16:creationId xmlns:a16="http://schemas.microsoft.com/office/drawing/2014/main" id="{4B8B1A7E-64CB-EE78-F2E7-700E001C65C8}"/>
              </a:ext>
            </a:extLst>
          </p:cNvPr>
          <p:cNvSpPr txBox="1"/>
          <p:nvPr/>
        </p:nvSpPr>
        <p:spPr>
          <a:xfrm>
            <a:off x="1206610" y="5085383"/>
            <a:ext cx="15167610" cy="6844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00"/>
              </a:lnSpc>
            </a:pPr>
            <a:r>
              <a:rPr lang="vi-VN" sz="4000" i="1" dirty="0">
                <a:solidFill>
                  <a:schemeClr val="bg1"/>
                </a:solidFill>
                <a:latin typeface="SVN-Gilroy" panose="00000500000000000000" pitchFamily="50" charset="0"/>
              </a:rPr>
              <a:t>Hồ Nguyễn An Khang¹, Doãn Xuân Thanh*</a:t>
            </a:r>
          </a:p>
        </p:txBody>
      </p:sp>
      <p:sp>
        <p:nvSpPr>
          <p:cNvPr id="2" name="TextBox 61">
            <a:extLst>
              <a:ext uri="{FF2B5EF4-FFF2-40B4-BE49-F238E27FC236}">
                <a16:creationId xmlns:a16="http://schemas.microsoft.com/office/drawing/2014/main" id="{F33B20A4-1FB8-B4BA-5EDF-5F41AA8FE9C1}"/>
              </a:ext>
            </a:extLst>
          </p:cNvPr>
          <p:cNvSpPr txBox="1"/>
          <p:nvPr/>
        </p:nvSpPr>
        <p:spPr>
          <a:xfrm>
            <a:off x="1206610" y="6203073"/>
            <a:ext cx="1570482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vi-VN" sz="2800" i="1" baseline="30000">
                <a:solidFill>
                  <a:schemeClr val="bg1"/>
                </a:solidFill>
                <a:latin typeface="SVN-Gilroy" panose="00000500000000000000" pitchFamily="50" charset="0"/>
              </a:rPr>
              <a:t>¹ Sinh viên ngành Kỹ thuật phần mềm, *GVHD Khoa Công nghệ thông tin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191861"/>
              </p:ext>
            </p:extLst>
          </p:nvPr>
        </p:nvGraphicFramePr>
        <p:xfrm>
          <a:off x="1934320" y="7899401"/>
          <a:ext cx="17515730" cy="183471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57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7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19999">
                <a:tc>
                  <a:txBody>
                    <a:bodyPr/>
                    <a:lstStyle/>
                    <a:p>
                      <a:r>
                        <a:rPr sz="2800" b="1" dirty="0">
                          <a:solidFill>
                            <a:srgbClr val="0070C0"/>
                          </a:solidFill>
                          <a:latin typeface="SVN-Gilroy"/>
                        </a:rPr>
                        <a:t>TÓM TẮT</a:t>
                      </a:r>
                    </a:p>
                    <a:p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TDTUOJ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là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hệ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thống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chấm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bài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lập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trình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trực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tuyến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,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tự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động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hóa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việc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chấm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bài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và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tổ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chức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thi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cho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ba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nhóm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người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dùng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: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sinh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viên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,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giảng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viên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và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quản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trị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viên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.</a:t>
                      </a:r>
                    </a:p>
                    <a:p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Hệ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thống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hỗ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trợ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nộp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và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chấm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bài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tự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động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nhiều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ngôn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ngữ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(C, C++, Java, Python) qua Judge0;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quản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lý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bài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toán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,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cuộc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thi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,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tổ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chức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và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bài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thực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hành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;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kèm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hai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tính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năng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học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tập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nổi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bật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: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trực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quan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hóa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cấu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trúc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dữ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liệu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và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gợi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ý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bằng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mô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hình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ngôn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ngữ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lớn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(LLM).</a:t>
                      </a:r>
                    </a:p>
                    <a:p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Công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nghệ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: Java 21 – Spring Boot, React 19, PostgreSQL, Redis, Docker, Judge0, AWS S3.</a:t>
                      </a:r>
                      <a:endParaRPr lang="en-US" sz="2200" b="0" dirty="0">
                        <a:solidFill>
                          <a:srgbClr val="1A1A1A"/>
                        </a:solidFill>
                        <a:latin typeface="SVN-Gilroy"/>
                      </a:endParaRPr>
                    </a:p>
                    <a:p>
                      <a:endParaRPr lang="en-US" sz="2200" b="0" dirty="0">
                        <a:solidFill>
                          <a:srgbClr val="1A1A1A"/>
                        </a:solidFill>
                        <a:latin typeface="SVN-Gilroy"/>
                      </a:endParaRPr>
                    </a:p>
                    <a:p>
                      <a:r>
                        <a:rPr lang="vi-VN" sz="2800" b="1" dirty="0">
                          <a:solidFill>
                            <a:srgbClr val="0070C0"/>
                          </a:solidFill>
                          <a:latin typeface="SVN-Gilroy"/>
                        </a:rPr>
                        <a:t>TÍNH NĂNG CHÍNH</a:t>
                      </a:r>
                    </a:p>
                    <a:p>
                      <a:r>
                        <a:rPr lang="vi-VN"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• Nộp &amp; chấm bài tự động đa ngôn ngữ qua Judge0</a:t>
                      </a:r>
                    </a:p>
                    <a:p>
                      <a:r>
                        <a:rPr lang="vi-VN"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• Cuộc thi ICPC/IOI, bảng xếp hạng thời gian thực</a:t>
                      </a:r>
                    </a:p>
                    <a:p>
                      <a:r>
                        <a:rPr lang="vi-VN"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• Quản lý tổ chức, lớp học và bài thực hành</a:t>
                      </a:r>
                    </a:p>
                    <a:p>
                      <a:r>
                        <a:rPr lang="vi-VN"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• Ngân hàng bài toán, nhãn chủ đề, bình luận</a:t>
                      </a:r>
                    </a:p>
                    <a:p>
                      <a:r>
                        <a:rPr lang="vi-VN"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• Trích xuất đề bài từ PDF, sinh ca kiểm thử bằng AI</a:t>
                      </a:r>
                    </a:p>
                    <a:p>
                      <a:r>
                        <a:rPr lang="vi-VN"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• Hồ sơ năng lực, biểu đồ nhiệt hoạt động, điểm rating</a:t>
                      </a:r>
                    </a:p>
                    <a:p>
                      <a:endParaRPr sz="2200" b="0" dirty="0">
                        <a:solidFill>
                          <a:srgbClr val="1A1A1A"/>
                        </a:solidFill>
                        <a:latin typeface="SVN-Gilroy"/>
                      </a:endParaRP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1" dirty="0">
                          <a:solidFill>
                            <a:srgbClr val="0070C0"/>
                          </a:solidFill>
                          <a:latin typeface="SVN-Gilroy"/>
                        </a:rPr>
                        <a:t>KIẾN TRÚC HỆ THỐNG</a:t>
                      </a:r>
                    </a:p>
                    <a:p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Kiến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trúc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tách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biệt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phía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giao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diện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(React)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và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phía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máy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chủ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(Spring Boot),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tích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hợp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Judge0, PostgreSQL, Redis, AWS S3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và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dịch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vụ</a:t>
                      </a:r>
                      <a:r>
                        <a:rPr sz="2200" b="0" dirty="0">
                          <a:solidFill>
                            <a:srgbClr val="1A1A1A"/>
                          </a:solidFill>
                          <a:latin typeface="SVN-Gilroy"/>
                        </a:rPr>
                        <a:t> LLM.</a:t>
                      </a: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0">
                <a:tc>
                  <a:txBody>
                    <a:bodyPr/>
                    <a:lstStyle/>
                    <a:p>
                      <a:endParaRPr sz="2200" b="0" dirty="0">
                        <a:solidFill>
                          <a:srgbClr val="1A1A1A"/>
                        </a:solidFill>
                        <a:latin typeface="SVN-Gilroy"/>
                      </a:endParaRP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800" b="1" dirty="0">
                          <a:solidFill>
                            <a:srgbClr val="0070C0"/>
                          </a:solidFill>
                          <a:latin typeface="SVN-Gilroy"/>
                        </a:rPr>
                        <a:t>HỖ TRỢ HỌC TẬP THÔNG MINH</a:t>
                      </a:r>
                    </a:p>
                    <a:p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Trình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minh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họa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tự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động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chèn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lệnh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truy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vết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,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chạy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qua Judge0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và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mô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phỏng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từng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bước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thực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thi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của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mảng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,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ngăn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xếp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,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hàng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đợi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,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danh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sách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liên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kết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,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cây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và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đồ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thị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.</a:t>
                      </a:r>
                    </a:p>
                    <a:p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Gợi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ý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bằng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LLM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định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hướng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tư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duy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mà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không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lộ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lời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giải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.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Hệ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thống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đã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được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triển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khai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trực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tuyến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tại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api.tdtuoj.me.</a:t>
                      </a: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9959">
                <a:tc>
                  <a:txBody>
                    <a:bodyPr/>
                    <a:lstStyle/>
                    <a:p>
                      <a:r>
                        <a:rPr sz="2600" b="1" dirty="0">
                          <a:solidFill>
                            <a:srgbClr val="0070C0"/>
                          </a:solidFill>
                          <a:latin typeface="SVN-Gilroy"/>
                        </a:rPr>
                        <a:t>TRỰC QUAN HÓA CẤU TRÚC DỮ LIỆU</a:t>
                      </a:r>
                      <a:endParaRPr lang="en-GB" sz="2800" b="1" dirty="0">
                        <a:solidFill>
                          <a:srgbClr val="0070C0"/>
                        </a:solidFill>
                        <a:latin typeface="SVN-Gilroy"/>
                      </a:endParaRP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 b="1">
                          <a:solidFill>
                            <a:srgbClr val="0070C0"/>
                          </a:solidFill>
                          <a:latin typeface="SVN-Gilroy"/>
                        </a:rPr>
                        <a:t>KIỂM THỬ TẢI &amp; GIÁM SÁT HIỆU NĂNG</a:t>
                      </a:r>
                      <a:endParaRPr lang="en-GB" sz="2800">
                        <a:solidFill>
                          <a:schemeClr val="tx1"/>
                        </a:solidFill>
                        <a:latin typeface="SVN-Gilroy"/>
                      </a:endParaRP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9959">
                <a:tc>
                  <a:txBody>
                    <a:bodyPr/>
                    <a:lstStyle/>
                    <a:p>
                      <a:endParaRPr lang="en-GB" sz="2800" dirty="0">
                        <a:solidFill>
                          <a:schemeClr val="tx1"/>
                        </a:solidFill>
                        <a:latin typeface="SVN-Gilroy"/>
                      </a:endParaRP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800" dirty="0">
                        <a:solidFill>
                          <a:schemeClr val="tx1"/>
                        </a:solidFill>
                        <a:latin typeface="SVN-Gilroy"/>
                      </a:endParaRP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5936978-E737-9252-72E0-A8EA208883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840" t="10226" r="10373" b="10372"/>
          <a:stretch/>
        </p:blipFill>
        <p:spPr>
          <a:xfrm>
            <a:off x="17071596" y="3403600"/>
            <a:ext cx="2946118" cy="2895600"/>
          </a:xfrm>
          <a:prstGeom prst="rect">
            <a:avLst/>
          </a:prstGeom>
        </p:spPr>
      </p:pic>
      <p:pic>
        <p:nvPicPr>
          <p:cNvPr id="54" name="Picture 53" descr="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30614" y="10332720"/>
            <a:ext cx="4913971" cy="4846320"/>
          </a:xfrm>
          <a:prstGeom prst="rect">
            <a:avLst/>
          </a:prstGeom>
        </p:spPr>
      </p:pic>
      <p:pic>
        <p:nvPicPr>
          <p:cNvPr id="55" name="Picture 54" descr="ui-visualiz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20876895"/>
            <a:ext cx="7955279" cy="4972050"/>
          </a:xfrm>
          <a:prstGeom prst="rect">
            <a:avLst/>
          </a:prstGeom>
        </p:spPr>
      </p:pic>
      <p:pic>
        <p:nvPicPr>
          <p:cNvPr id="56" name="Picture 55" descr="grafana-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0" y="20876895"/>
            <a:ext cx="7955279" cy="4972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0DA03F-EE5A-B6E8-B88F-83932798A1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1850" y="14452600"/>
            <a:ext cx="3657600" cy="486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334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481</Words>
  <Application>Microsoft Office PowerPoint</Application>
  <PresentationFormat>Custom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SVN-Gilroy</vt:lpstr>
      <vt:lpstr>SVN-Gilroy SemiBold</vt:lpstr>
      <vt:lpstr>SVN-Gilroy XBold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triễn lãm NCKH_ALD</dc:title>
  <dc:creator/>
  <cp:lastModifiedBy>Khang Ho</cp:lastModifiedBy>
  <cp:revision>35</cp:revision>
  <dcterms:created xsi:type="dcterms:W3CDTF">2006-08-16T00:00:00Z</dcterms:created>
  <dcterms:modified xsi:type="dcterms:W3CDTF">2026-06-25T14:17:18Z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CCBE85ED5C844403B09966F179E09C30_13</vt:lpwstr>
  </property>
  <property fmtid="{D5CDD505-2E9C-101B-9397-08002B2CF9AE}" pid="3" name="KSOProductBuildVer">
    <vt:lpwstr>1033-12.2.0.13215</vt:lpwstr>
  </property>
</Properties>
</file>