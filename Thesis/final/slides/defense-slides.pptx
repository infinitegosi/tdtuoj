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 i="0">
                <a:solidFill>
                  <a:srgbClr val="000000"/>
                </a:solidFill>
                <a:latin typeface="Times New Roman"/>
              </a:rPr>
              <a:t>Hệ thống chấm bài trực tuyến cho lập trình thi đấu</a:t>
            </a:r>
          </a:p>
          <a:p>
            <a:pPr algn="ctr">
              <a:spcBef>
                <a:spcPts val="800"/>
              </a:spcBef>
            </a:pPr>
            <a:r>
              <a:rPr sz="1800" b="0" i="1">
                <a:solidFill>
                  <a:srgbClr val="555555"/>
                </a:solidFill>
                <a:latin typeface="Times New Roman"/>
              </a:rPr>
              <a:t>Cơ sở lý thuyết của hệ thống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02336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Sinh viên thực hiện: Hồ Khang</a:t>
            </a:r>
          </a:p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555555"/>
                </a:solidFill>
                <a:latin typeface="Times New Roman"/>
              </a:rPr>
              <a:t>Khoa Công nghệ Thông tin – Trường Đại học Tôn Đức Thắng</a:t>
            </a:r>
          </a:p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555555"/>
                </a:solidFill>
                <a:latin typeface="Times New Roman"/>
              </a:rPr>
              <a:t>Bảo vệ khóa luận tốt nghiệp</a:t>
            </a:r>
          </a:p>
        </p:txBody>
      </p:sp>
      <p:sp>
        <p:nvSpPr>
          <p:cNvPr id="4" name="Rectangle 3"/>
          <p:cNvSpPr/>
          <p:nvPr/>
        </p:nvSpPr>
        <p:spPr>
          <a:xfrm>
            <a:off x="3803904" y="3794760"/>
            <a:ext cx="45720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0000"/>
                </a:solidFill>
                <a:latin typeface="Times New Roman"/>
              </a:rPr>
              <a:t>Nội dung trình bày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88136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1. Bài toán chấm bài tự động (Online Judge)</a:t>
            </a:r>
          </a:p>
          <a:p>
            <a:pPr>
              <a:spcAft>
                <a:spcPts val="5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2. Cô lập và chấm bài trong môi trường sandbox</a:t>
            </a:r>
          </a:p>
          <a:p>
            <a:pPr>
              <a:spcAft>
                <a:spcPts val="5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3. Kiến trúc phân tầng, giao tiếp REST không trạng thái</a:t>
            </a:r>
          </a:p>
          <a:p>
            <a:pPr>
              <a:spcAft>
                <a:spcPts val="5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4. Xử lý chấm bài bất đồng bộ (hàng đợi &amp; worker)</a:t>
            </a:r>
          </a:p>
          <a:p>
            <a:pPr>
              <a:spcAft>
                <a:spcPts val="5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5. Xác thực, phân quyền và bảo mật (JWT, BCrypt)</a:t>
            </a:r>
          </a:p>
          <a:p>
            <a:pPr>
              <a:spcAft>
                <a:spcPts val="5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6. Giới hạn tần suất truy cập (rate limiting)</a:t>
            </a:r>
          </a:p>
          <a:p>
            <a:pPr>
              <a:spcAft>
                <a:spcPts val="5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7. Mô hình tính điểm cuộc thi và đánh giá năng lực</a:t>
            </a:r>
          </a:p>
          <a:p>
            <a:pPr>
              <a:spcAft>
                <a:spcPts val="5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8. Trực quan hóa cấu trúc dữ liệu qua giả lập thực thi</a:t>
            </a:r>
          </a:p>
          <a:p>
            <a:pPr>
              <a:spcAft>
                <a:spcPts val="5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9. Tích hợp mô hình ngôn ngữ lớn (LLM)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0000"/>
                </a:solidFill>
                <a:latin typeface="Times New Roman"/>
              </a:rPr>
              <a:t>1. Bài toán chấm bài tự động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88136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Định nghĩa. Online Judge nhận mã nguồn của người dùng, biên dịch và thực thi trên bộ dữ liệu kiểm thử, rồi so khớp kết quả để kết luận.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700" b="1" i="0">
                <a:solidFill>
                  <a:srgbClr val="000000"/>
                </a:solidFill>
                <a:latin typeface="Times New Roman"/>
              </a:rPr>
              <a:t>Nguyên lý chấm dựa trên ca kiểm thử (test-case based)</a:t>
            </a:r>
          </a:p>
          <a:p>
            <a:pPr lvl="1"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– Mỗi bài toán gắn với tập ca kiểm thử (đầu vào → đầu ra kỳ vọng).</a:t>
            </a:r>
          </a:p>
          <a:p>
            <a:pPr lvl="1"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– Lời giải đúng khi qua toàn bộ ca kiểm thử trong giới hạn tài nguyên.</a:t>
            </a:r>
          </a:p>
          <a:p>
            <a:pPr lvl="1"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– Ràng buộc: giới hạn thời gian (time limit) và bộ nhớ (memory limit).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700" b="1" i="0">
                <a:solidFill>
                  <a:srgbClr val="000000"/>
                </a:solidFill>
                <a:latin typeface="Times New Roman"/>
              </a:rPr>
              <a:t>Các phán quyết (verdict)</a:t>
            </a:r>
          </a:p>
          <a:p>
            <a:pPr lvl="1"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– AC (Accepted), WA (Wrong Answer), TLE (Time Limit), MLE (Memory Limit), RE (Runtime Error), CE (Compile Error).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0000"/>
                </a:solidFill>
                <a:latin typeface="Times New Roman"/>
              </a:rPr>
              <a:t>2. Cô lập và chấm bài trong sandbox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88136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Vấn đề. Thực thi mã nguồn không tin cậy trên máy chủ ⇒ rủi ro bảo mật và tranh chấp tài nguyên.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700" b="1" i="0">
                <a:solidFill>
                  <a:srgbClr val="000000"/>
                </a:solidFill>
                <a:latin typeface="Times New Roman"/>
              </a:rPr>
              <a:t>Cơ chế cô lập (isolation)</a:t>
            </a:r>
          </a:p>
          <a:p>
            <a:pPr lvl="1"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– cgroups: giới hạn CPU, bộ nhớ, số tiến trình của mỗi lần chấm.</a:t>
            </a:r>
          </a:p>
          <a:p>
            <a:pPr lvl="1"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– namespaces: tách biệt hệ thống tập tin, mạng, tiến trình.</a:t>
            </a:r>
          </a:p>
          <a:p>
            <a:pPr lvl="1"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– Mỗi bài nộp chạy trong hộp cát riêng, không ảnh hưởng lẫn nhau.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700" b="1" i="0">
                <a:solidFill>
                  <a:srgbClr val="000000"/>
                </a:solidFill>
                <a:latin typeface="Times New Roman"/>
              </a:rPr>
              <a:t>Áp dụng</a:t>
            </a:r>
          </a:p>
          <a:p>
            <a:pPr lvl="1"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– Judge0 – bộ máy thực thi tự chủ dựa trên isolate và container hóa, đo chính xác thời gian và bộ nhớ.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0000"/>
                </a:solidFill>
                <a:latin typeface="Times New Roman"/>
              </a:rPr>
              <a:t>3. Kiến trúc phân tầng và REST không trạng thái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88136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700" b="1" i="0">
                <a:solidFill>
                  <a:srgbClr val="000000"/>
                </a:solidFill>
                <a:latin typeface="Times New Roman"/>
              </a:rPr>
              <a:t>Mô hình client–server nhiều tầng</a:t>
            </a:r>
          </a:p>
          <a:p>
            <a:pPr lvl="1"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– Tầng trình bày (React) – Tầng nghiệp vụ (Spring Boot) – Tầng dữ liệu (PostgreSQL).</a:t>
            </a:r>
          </a:p>
          <a:p>
            <a:pPr lvl="1"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– Tách biệt trách nhiệm: Controller → Service → Repository.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700" b="1" i="0">
                <a:solidFill>
                  <a:srgbClr val="000000"/>
                </a:solidFill>
                <a:latin typeface="Times New Roman"/>
              </a:rPr>
              <a:t>Nguyên lý REST</a:t>
            </a:r>
          </a:p>
          <a:p>
            <a:pPr lvl="1"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– Giao tiếp không trạng thái (stateless): mỗi yêu cầu tự chứa đủ thông tin.</a:t>
            </a:r>
          </a:p>
          <a:p>
            <a:pPr lvl="1"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– Tài nguyên định danh qua URI; thao tác qua phương thức HTTP (GET/POST/PUT/DELETE).</a:t>
            </a:r>
          </a:p>
          <a:p>
            <a:pPr lvl="1"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– Không lưu phiên trên máy chủ ⇒ dễ mở rộng theo chiều ngang.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0000"/>
                </a:solidFill>
                <a:latin typeface="Times New Roman"/>
              </a:rPr>
              <a:t>4. Xử lý chấm bài bất đồng bộ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88136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Vấn đề. Chấm bài tốn thời gian (biên dịch + chạy nhiều ca) ⇒ không thể giữ kết nối HTTP chờ đồng bộ.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700" b="1" i="0">
                <a:solidFill>
                  <a:srgbClr val="000000"/>
                </a:solidFill>
                <a:latin typeface="Times New Roman"/>
              </a:rPr>
              <a:t>Mô hình hàng đợi – worker (producer–consumer)</a:t>
            </a:r>
          </a:p>
          <a:p>
            <a:pPr lvl="1"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– Yêu cầu nộp bài được ghi nhận ngay với trạng thái PENDING, trả về tức thì.</a:t>
            </a:r>
          </a:p>
          <a:p>
            <a:pPr lvl="1"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– Worker nền lấy bài từ hàng đợi, gửi sang bộ máy chấm, cập nhật JUDGING → COMPLETED.</a:t>
            </a:r>
          </a:p>
          <a:p>
            <a:pPr lvl="1"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– Giảm tải đỉnh, tách rời tốc độ nhận và tốc độ xử lý.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700" b="1" i="0">
                <a:solidFill>
                  <a:srgbClr val="000000"/>
                </a:solidFill>
                <a:latin typeface="Times New Roman"/>
              </a:rPr>
              <a:t>Áp dụng</a:t>
            </a:r>
          </a:p>
          <a:p>
            <a:pPr lvl="1"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– Thực thi bất đồng bộ bằng thread pool; Redis làm bộ đệm và điều phối.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0000"/>
                </a:solidFill>
                <a:latin typeface="Times New Roman"/>
              </a:rPr>
              <a:t>5. Xác thực, phân quyền và bảo mật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88136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700" b="1" i="0">
                <a:solidFill>
                  <a:srgbClr val="000000"/>
                </a:solidFill>
                <a:latin typeface="Times New Roman"/>
              </a:rPr>
              <a:t>Xác thực bằng JWT (JSON Web Token)</a:t>
            </a:r>
          </a:p>
          <a:p>
            <a:pPr lvl="1"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– Token tự chứa (header.payload.signature), ký số để chống giả mạo.</a:t>
            </a:r>
          </a:p>
          <a:p>
            <a:pPr lvl="1"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– Stateless: máy chủ không lưu phiên, xác thực bằng kiểm tra chữ ký.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700" b="1" i="0">
                <a:solidFill>
                  <a:srgbClr val="000000"/>
                </a:solidFill>
                <a:latin typeface="Times New Roman"/>
              </a:rPr>
              <a:t>Phân quyền theo vai trò (RBAC)</a:t>
            </a:r>
          </a:p>
          <a:p>
            <a:pPr lvl="1"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– Ba vai trò: ADMIN, CREATOR (giảng viên), PARTICIPANT (sinh viên).</a:t>
            </a:r>
          </a:p>
          <a:p>
            <a:pPr lvl="1"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– Kiểm soát truy cập ở mức phương thức.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700" b="1" i="0">
                <a:solidFill>
                  <a:srgbClr val="000000"/>
                </a:solidFill>
                <a:latin typeface="Times New Roman"/>
              </a:rPr>
              <a:t>Băm mật khẩu</a:t>
            </a:r>
          </a:p>
          <a:p>
            <a:pPr lvl="1"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– BCrypt – hàm băm một chiều có salt và hệ số chi phí, chống tấn công dò bảng (rainbow table).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0000"/>
                </a:solidFill>
                <a:latin typeface="Times New Roman"/>
              </a:rPr>
              <a:t>6. Giới hạn tần suất truy cập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88136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Mục tiêu. Bảo vệ hệ thống trước lạm dụng và tấn công dồn dập, đảm bảo công bằng tài nguyên.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700" b="1" i="0">
                <a:solidFill>
                  <a:srgbClr val="000000"/>
                </a:solidFill>
                <a:latin typeface="Times New Roman"/>
              </a:rPr>
              <a:t>Thuật toán gáo token (token bucket)</a:t>
            </a:r>
          </a:p>
          <a:p>
            <a:pPr lvl="1"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– Mỗi người dùng có một “gáo” chứa token, nạp lại theo tốc độ cố định.</a:t>
            </a:r>
          </a:p>
          <a:p>
            <a:pPr lvl="1"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– Mỗi yêu cầu tiêu tốn một token; hết token ⇒ từ chối (HTTP 429).</a:t>
            </a:r>
          </a:p>
          <a:p>
            <a:pPr lvl="1"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– Cho phép bùng nổ ngắn hạn nhưng khống chế tốc độ trung bình.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700" b="1" i="0">
                <a:solidFill>
                  <a:srgbClr val="000000"/>
                </a:solidFill>
                <a:latin typeface="Times New Roman"/>
              </a:rPr>
              <a:t>Áp dụng</a:t>
            </a:r>
          </a:p>
          <a:p>
            <a:pPr lvl="1"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– Bộ đếm lưu trên Redis (nhanh, chia sẻ giữa nhiều máy chủ).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0000"/>
                </a:solidFill>
                <a:latin typeface="Times New Roman"/>
              </a:rPr>
              <a:t>7. Mô hình tính điểm và đánh giá năng lực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88136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700" b="1" i="0">
                <a:solidFill>
                  <a:srgbClr val="000000"/>
                </a:solidFill>
                <a:latin typeface="Times New Roman"/>
              </a:rPr>
              <a:t>Hai thể thức chấm điểm</a:t>
            </a:r>
          </a:p>
          <a:p>
            <a:pPr lvl="1"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– ICPC: tính theo số bài giải đúng; xếp hạng phụ theo tổng thời gian cộng phạt cho mỗi lần nộp sai.</a:t>
            </a:r>
          </a:p>
          <a:p>
            <a:pPr lvl="1"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– IOI: tính điểm từng phần theo số ca kiểm thử vượt qua.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700" b="1" i="0">
                <a:solidFill>
                  <a:srgbClr val="000000"/>
                </a:solidFill>
                <a:latin typeface="Times New Roman"/>
              </a:rPr>
              <a:t>Đánh giá năng lực sau cuộc thi</a:t>
            </a:r>
          </a:p>
          <a:p>
            <a:pPr lvl="1"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– Dựa trên nguyên lý Elo: cập nhật điểm theo kỳ vọng và kết quả thực tế.</a:t>
            </a:r>
          </a:p>
          <a:p>
            <a:pPr lvl="1"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– Kỳ vọng thắng giữa hai thí sinh:  E_A = 1 / (1 + 10^((R_B − R_A)/400)).</a:t>
            </a:r>
          </a:p>
          <a:p>
            <a:pPr lvl="1"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– Vượt kỳ vọng ⇒ tăng điểm; kém kỳ vọng ⇒ giảm điểm.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0000"/>
                </a:solidFill>
                <a:latin typeface="Times New Roman"/>
              </a:rPr>
              <a:t>8. Trực quan hóa cấu trúc dữ liệu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88136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Ý tưởng. Ghi lại trạng thái biến qua từng bước thực thi để dựng lại hoạt hình của cấu trúc dữ liệu (mảng, ngăn xếp, hàng đợi, cây, đồ thị…).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700" b="1" i="0">
                <a:solidFill>
                  <a:srgbClr val="000000"/>
                </a:solidFill>
                <a:latin typeface="Times New Roman"/>
              </a:rPr>
              <a:t>Kỹ thuật giả lập / chèn mã (code instrumentation)</a:t>
            </a:r>
          </a:p>
          <a:p>
            <a:pPr lvl="1"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– Phân tích mã nguồn, chèn lệnh phát vết (trace) tại các điểm quan trọng.</a:t>
            </a:r>
          </a:p>
          <a:p>
            <a:pPr lvl="1"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– Thực thi trong sandbox, thu thập chuỗi trạng thái theo thời gian.</a:t>
            </a:r>
          </a:p>
          <a:p>
            <a:pPr lvl="1"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– Suy luận kiểu cấu trúc dữ liệu, chọn bộ dựng hình phù hợp để hiển thị.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700" b="1" i="0">
                <a:solidFill>
                  <a:srgbClr val="000000"/>
                </a:solidFill>
                <a:latin typeface="Times New Roman"/>
              </a:rPr>
              <a:t>Ý nghĩa sư phạm</a:t>
            </a:r>
          </a:p>
          <a:p>
            <a:pPr lvl="1"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– Giúp người học “nhìn thấy” thuật toán vận hành.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0000"/>
                </a:solidFill>
                <a:latin typeface="Times New Roman"/>
              </a:rPr>
              <a:t>9. Tích hợp mô hình ngôn ngữ lớn (LLM)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88136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700" b="1" i="0">
                <a:solidFill>
                  <a:srgbClr val="000000"/>
                </a:solidFill>
                <a:latin typeface="Times New Roman"/>
              </a:rPr>
              <a:t>Ứng dụng LLM trong hệ thống</a:t>
            </a:r>
          </a:p>
          <a:p>
            <a:pPr lvl="1"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– Gợi ý học tập theo từng bài (không đưa lời giải trực tiếp).</a:t>
            </a:r>
          </a:p>
          <a:p>
            <a:pPr lvl="1"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– Trích xuất đề bài từ tệp PDF; sinh ca kiểm thử.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700" b="1" i="0">
                <a:solidFill>
                  <a:srgbClr val="000000"/>
                </a:solidFill>
                <a:latin typeface="Times New Roman"/>
              </a:rPr>
              <a:t>Kỹ thuật xây dựng chỉ dẫn (prompt engineering) và rào chắn (guardrail)</a:t>
            </a:r>
          </a:p>
          <a:p>
            <a:pPr lvl="1"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– Nạp ngữ cảnh bài toán vào chỉ dẫn để câu trả lời bám sát nội dung.</a:t>
            </a:r>
          </a:p>
          <a:p>
            <a:pPr lvl="1"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– Ràng buộc phạm vi: từ chối câu hỏi lạc đề, chỉ hỗ trợ định hướng.</a:t>
            </a:r>
          </a:p>
          <a:p>
            <a:pPr lvl="1"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– Giữ vai trò trợ giảng – kích thích tư duy thay vì cho đáp án.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0000"/>
                </a:solidFill>
                <a:latin typeface="Times New Roman"/>
              </a:rPr>
              <a:t>Kết luận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88136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700" b="1" i="0">
                <a:solidFill>
                  <a:srgbClr val="000000"/>
                </a:solidFill>
                <a:latin typeface="Times New Roman"/>
              </a:rPr>
              <a:t>Các cơ sở lý thuyết đã vận dụng</a:t>
            </a:r>
          </a:p>
          <a:p>
            <a:pPr lvl="1"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– Chấm bài tự động dựa trên ca kiểm thử và cơ chế phán quyết.</a:t>
            </a:r>
          </a:p>
          <a:p>
            <a:pPr lvl="1"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– Cô lập tài nguyên (cgroups, namespaces) cho thực thi an toàn.</a:t>
            </a:r>
          </a:p>
          <a:p>
            <a:pPr lvl="1"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– Kiến trúc phân tầng, REST không trạng thái, xử lý bất đồng bộ.</a:t>
            </a:r>
          </a:p>
          <a:p>
            <a:pPr lvl="1"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– Bảo mật: JWT, RBAC, băm mật khẩu, giới hạn tần suất.</a:t>
            </a:r>
          </a:p>
          <a:p>
            <a:pPr lvl="1"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– Mô hình chấm điểm cuộc thi và đánh giá năng lực theo Elo.</a:t>
            </a:r>
          </a:p>
          <a:p>
            <a:pPr lvl="1"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– Giả lập thực thi để trực quan hóa và tích hợp LLM hỗ trợ học tập.</a:t>
            </a:r>
          </a:p>
          <a:p>
            <a:pPr algn="ctr">
              <a:spcBef>
                <a:spcPts val="1600"/>
              </a:spcBef>
            </a:pPr>
            <a:r>
              <a:rPr sz="1800" b="1" i="0">
                <a:solidFill>
                  <a:srgbClr val="000000"/>
                </a:solidFill>
                <a:latin typeface="Times New Roman"/>
              </a:rPr>
              <a:t>Xin cảm ơn – Kính mời Hội đồng đặt câu hỏi.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