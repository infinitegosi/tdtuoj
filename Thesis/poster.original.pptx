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3"/>
  </p:notesMasterIdLst>
  <p:sldIdLst>
    <p:sldId id="258" r:id="rId2"/>
  </p:sldIdLst>
  <p:sldSz cx="21374100" cy="30276800"/>
  <p:notesSz cx="6858000" cy="9144000"/>
  <p:embeddedFontLst>
    <p:embeddedFont>
      <p:font typeface="SVN-Gilroy" panose="00000500000000000000" pitchFamily="50" charset="0"/>
      <p:regular r:id="rId4"/>
      <p:bold r:id="rId5"/>
      <p:italic r:id="rId6"/>
      <p:boldItalic r:id="rId7"/>
    </p:embeddedFont>
    <p:embeddedFont>
      <p:font typeface="SVN-Gilroy SemiBold" panose="00000700000000000000" pitchFamily="50" charset="0"/>
      <p:bold r:id="rId8"/>
      <p:boldItalic r:id="rId9"/>
    </p:embeddedFont>
    <p:embeddedFont>
      <p:font typeface="SVN-Gilroy XBold" panose="00000900000000000000" pitchFamily="50" charset="0"/>
      <p:bold r:id="rId10"/>
      <p:boldItalic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autoAdjust="0"/>
    <p:restoredTop sz="95090" autoAdjust="0"/>
  </p:normalViewPr>
  <p:slideViewPr>
    <p:cSldViewPr showGuides="1">
      <p:cViewPr>
        <p:scale>
          <a:sx n="33" d="100"/>
          <a:sy n="33" d="100"/>
        </p:scale>
        <p:origin x="3402" y="-6"/>
      </p:cViewPr>
      <p:guideLst>
        <p:guide orient="horz" pos="2145"/>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tableStyles" Target="tableStyle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118617-0849-4FC5-A3C6-CE0F1E79DFBD}" type="datetimeFigureOut">
              <a:rPr lang="en-US" smtClean="0"/>
              <a:t>26/01/2026</a:t>
            </a:fld>
            <a:endParaRPr lang="en-US"/>
          </a:p>
        </p:txBody>
      </p:sp>
      <p:sp>
        <p:nvSpPr>
          <p:cNvPr id="4" name="Slide Image Placeholder 3"/>
          <p:cNvSpPr>
            <a:spLocks noGrp="1" noRot="1" noChangeAspect="1"/>
          </p:cNvSpPr>
          <p:nvPr>
            <p:ph type="sldImg" idx="2"/>
          </p:nvPr>
        </p:nvSpPr>
        <p:spPr>
          <a:xfrm>
            <a:off x="2339975" y="1143000"/>
            <a:ext cx="21780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81D160-6648-4A4C-BEA5-3FB406DFE130}" type="slidenum">
              <a:rPr lang="en-US" smtClean="0"/>
              <a:t>‹#›</a:t>
            </a:fld>
            <a:endParaRPr lang="en-US"/>
          </a:p>
        </p:txBody>
      </p:sp>
    </p:spTree>
    <p:extLst>
      <p:ext uri="{BB962C8B-B14F-4D97-AF65-F5344CB8AC3E}">
        <p14:creationId xmlns:p14="http://schemas.microsoft.com/office/powerpoint/2010/main" val="2920300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Tên loại: </a:t>
            </a:r>
            <a:r>
              <a:rPr lang="en-US"/>
              <a:t>Size: 48; Font: SVN Gilroy </a:t>
            </a:r>
            <a:r>
              <a:rPr lang="en-US" err="1"/>
              <a:t>Xbold</a:t>
            </a:r>
            <a:r>
              <a:rPr lang="en-US"/>
              <a:t>, In </a:t>
            </a:r>
            <a:r>
              <a:rPr lang="en-US" err="1"/>
              <a:t>hoa</a:t>
            </a:r>
            <a:r>
              <a:rPr lang="en-US"/>
              <a:t> </a:t>
            </a:r>
            <a:r>
              <a:rPr lang="en-US" err="1"/>
              <a:t>tất</a:t>
            </a:r>
            <a:r>
              <a:rPr lang="en-US"/>
              <a:t> </a:t>
            </a:r>
            <a:r>
              <a:rPr lang="en-US" err="1"/>
              <a:t>cả</a:t>
            </a:r>
            <a:endParaRPr lang="vi-VN"/>
          </a:p>
          <a:p>
            <a:r>
              <a:rPr lang="vi-VN"/>
              <a:t>Năm - ngành: </a:t>
            </a:r>
            <a:r>
              <a:rPr lang="en-US"/>
              <a:t>36</a:t>
            </a:r>
            <a:r>
              <a:rPr lang="vi-VN"/>
              <a:t> (Năm</a:t>
            </a:r>
            <a:r>
              <a:rPr lang="en-US"/>
              <a:t>: SVN Gilroy </a:t>
            </a:r>
            <a:r>
              <a:rPr lang="en-US" err="1"/>
              <a:t>Semibold</a:t>
            </a:r>
            <a:r>
              <a:rPr lang="en-US"/>
              <a:t> +</a:t>
            </a:r>
            <a:r>
              <a:rPr lang="vi-VN"/>
              <a:t> </a:t>
            </a:r>
            <a:r>
              <a:rPr lang="en-US"/>
              <a:t>I</a:t>
            </a:r>
            <a:r>
              <a:rPr lang="vi-VN" err="1"/>
              <a:t>talic</a:t>
            </a:r>
            <a:r>
              <a:rPr lang="vi-VN"/>
              <a:t> – Ngành</a:t>
            </a:r>
            <a:r>
              <a:rPr lang="en-US"/>
              <a:t>:</a:t>
            </a:r>
            <a:r>
              <a:rPr lang="vi-VN"/>
              <a:t> </a:t>
            </a:r>
            <a:r>
              <a:rPr lang="en-US"/>
              <a:t>SVN Gilroy + Bold</a:t>
            </a:r>
            <a:r>
              <a:rPr lang="vi-VN"/>
              <a:t>)</a:t>
            </a:r>
          </a:p>
          <a:p>
            <a:r>
              <a:rPr lang="vi-VN"/>
              <a:t>Tên đề tài: </a:t>
            </a:r>
            <a:r>
              <a:rPr lang="en-US"/>
              <a:t>Size: 46; Font: SVN Gilroy + Bold</a:t>
            </a:r>
            <a:endParaRPr lang="vi-VN"/>
          </a:p>
          <a:p>
            <a:r>
              <a:rPr lang="vi-VN"/>
              <a:t>Tên người thực hiện: </a:t>
            </a:r>
            <a:r>
              <a:rPr lang="en-US"/>
              <a:t>Size: 40; Font: SVN Gilroy + Italic</a:t>
            </a:r>
            <a:endParaRPr lang="vi-VN"/>
          </a:p>
          <a:p>
            <a:r>
              <a:rPr lang="vi-VN"/>
              <a:t>QR </a:t>
            </a:r>
            <a:r>
              <a:rPr lang="vi-VN" err="1"/>
              <a:t>Code</a:t>
            </a:r>
            <a:r>
              <a:rPr lang="vi-VN"/>
              <a:t>: </a:t>
            </a:r>
            <a:r>
              <a:rPr lang="en-US"/>
              <a:t>3’’ x 3’’</a:t>
            </a:r>
            <a:endParaRPr lang="vi-VN"/>
          </a:p>
          <a:p>
            <a:endParaRPr lang="vi-VN"/>
          </a:p>
          <a:p>
            <a:r>
              <a:rPr lang="vi-VN"/>
              <a:t>Tên loại đề tài:</a:t>
            </a:r>
          </a:p>
          <a:p>
            <a:pPr marL="228600" indent="-228600">
              <a:buAutoNum type="arabicPeriod"/>
            </a:pPr>
            <a:r>
              <a:rPr lang="vi-VN"/>
              <a:t>ĐỀ TÀI NGHIÊN CỨU KHOA HỌC</a:t>
            </a:r>
          </a:p>
          <a:p>
            <a:pPr marL="228600" indent="-228600">
              <a:buAutoNum type="arabicPeriod"/>
            </a:pPr>
            <a:r>
              <a:rPr lang="vi-VN"/>
              <a:t>KHÓA LUẬN TỐT NGHIỆP</a:t>
            </a:r>
          </a:p>
          <a:p>
            <a:pPr marL="228600" indent="-228600">
              <a:buAutoNum type="arabicPeriod"/>
            </a:pPr>
            <a:r>
              <a:rPr lang="vi-VN"/>
              <a:t>BÀI BÁO KHOA HỌC</a:t>
            </a:r>
          </a:p>
          <a:p>
            <a:pPr marL="228600" indent="-228600">
              <a:buAutoNum type="arabicPeriod"/>
            </a:pPr>
            <a:r>
              <a:rPr lang="vi-VN"/>
              <a:t>NGHIÊN CỨU DOANH NGHIỆP</a:t>
            </a:r>
            <a:endParaRPr lang="en-US"/>
          </a:p>
        </p:txBody>
      </p:sp>
      <p:sp>
        <p:nvSpPr>
          <p:cNvPr id="4" name="Slide Number Placeholder 3"/>
          <p:cNvSpPr>
            <a:spLocks noGrp="1"/>
          </p:cNvSpPr>
          <p:nvPr>
            <p:ph type="sldNum" sz="quarter" idx="5"/>
          </p:nvPr>
        </p:nvSpPr>
        <p:spPr/>
        <p:txBody>
          <a:bodyPr/>
          <a:lstStyle/>
          <a:p>
            <a:fld id="{5381D160-6648-4A4C-BEA5-3FB406DFE130}" type="slidenum">
              <a:rPr lang="en-US" smtClean="0"/>
              <a:t>1</a:t>
            </a:fld>
            <a:endParaRPr lang="en-US"/>
          </a:p>
        </p:txBody>
      </p:sp>
    </p:spTree>
    <p:extLst>
      <p:ext uri="{BB962C8B-B14F-4D97-AF65-F5344CB8AC3E}">
        <p14:creationId xmlns:p14="http://schemas.microsoft.com/office/powerpoint/2010/main" val="2615898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26/01/2026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26/01/2026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26/01/2026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26/01/2026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26/01/2026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26/01/2026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26/01/2026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26/01/2026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26/01/2026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26/01/2026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26/01/2026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26/01/2026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3" name="TextBox 61">
            <a:extLst>
              <a:ext uri="{FF2B5EF4-FFF2-40B4-BE49-F238E27FC236}">
                <a16:creationId xmlns:a16="http://schemas.microsoft.com/office/drawing/2014/main" id="{FFB524AB-E206-8A53-B054-FEFDD32D87E6}"/>
              </a:ext>
            </a:extLst>
          </p:cNvPr>
          <p:cNvSpPr txBox="1"/>
          <p:nvPr/>
        </p:nvSpPr>
        <p:spPr>
          <a:xfrm>
            <a:off x="1230630" y="1751334"/>
            <a:ext cx="10439400" cy="665567"/>
          </a:xfrm>
          <a:prstGeom prst="rect">
            <a:avLst/>
          </a:prstGeom>
        </p:spPr>
        <p:txBody>
          <a:bodyPr wrap="square" lIns="0" tIns="0" rIns="0" bIns="0" rtlCol="0" anchor="t">
            <a:spAutoFit/>
          </a:bodyPr>
          <a:lstStyle/>
          <a:p>
            <a:pPr>
              <a:lnSpc>
                <a:spcPts val="5900"/>
              </a:lnSpc>
            </a:pPr>
            <a:r>
              <a:rPr lang="en-US" sz="3600" i="1" dirty="0">
                <a:solidFill>
                  <a:schemeClr val="bg1"/>
                </a:solidFill>
                <a:latin typeface="SVN-Gilroy SemiBold" panose="00000700000000000000" pitchFamily="50" charset="0"/>
              </a:rPr>
              <a:t>Năm </a:t>
            </a:r>
            <a:r>
              <a:rPr lang="en-US" sz="3600" i="1" dirty="0" err="1">
                <a:solidFill>
                  <a:schemeClr val="bg1"/>
                </a:solidFill>
                <a:latin typeface="SVN-Gilroy SemiBold" panose="00000700000000000000" pitchFamily="50" charset="0"/>
              </a:rPr>
              <a:t>triển</a:t>
            </a:r>
            <a:r>
              <a:rPr lang="en-US" sz="3600" i="1" dirty="0">
                <a:solidFill>
                  <a:schemeClr val="bg1"/>
                </a:solidFill>
                <a:latin typeface="SVN-Gilroy SemiBold" panose="00000700000000000000" pitchFamily="50" charset="0"/>
              </a:rPr>
              <a:t> </a:t>
            </a:r>
            <a:r>
              <a:rPr lang="en-US" sz="3600" i="1" dirty="0" err="1">
                <a:solidFill>
                  <a:schemeClr val="bg1"/>
                </a:solidFill>
                <a:latin typeface="SVN-Gilroy SemiBold" panose="00000700000000000000" pitchFamily="50" charset="0"/>
              </a:rPr>
              <a:t>khai</a:t>
            </a:r>
            <a:r>
              <a:rPr lang="en-US" sz="3600" i="1" dirty="0">
                <a:solidFill>
                  <a:schemeClr val="bg1"/>
                </a:solidFill>
                <a:latin typeface="SVN-Gilroy SemiBold" panose="00000700000000000000" pitchFamily="50" charset="0"/>
              </a:rPr>
              <a:t>: 2025</a:t>
            </a:r>
            <a:endParaRPr lang="en-US" sz="3600" b="1" dirty="0">
              <a:solidFill>
                <a:schemeClr val="bg1"/>
              </a:solidFill>
              <a:latin typeface="SVN-Gilroy" panose="00000500000000000000" pitchFamily="50" charset="0"/>
            </a:endParaRPr>
          </a:p>
        </p:txBody>
      </p:sp>
      <p:sp>
        <p:nvSpPr>
          <p:cNvPr id="44" name="TextBox 61">
            <a:extLst>
              <a:ext uri="{FF2B5EF4-FFF2-40B4-BE49-F238E27FC236}">
                <a16:creationId xmlns:a16="http://schemas.microsoft.com/office/drawing/2014/main" id="{EE182F7A-B8C0-C789-7F13-A591F7A1D3B5}"/>
              </a:ext>
            </a:extLst>
          </p:cNvPr>
          <p:cNvSpPr txBox="1"/>
          <p:nvPr/>
        </p:nvSpPr>
        <p:spPr>
          <a:xfrm>
            <a:off x="1230630" y="903737"/>
            <a:ext cx="10439400" cy="705706"/>
          </a:xfrm>
          <a:prstGeom prst="rect">
            <a:avLst/>
          </a:prstGeom>
        </p:spPr>
        <p:txBody>
          <a:bodyPr wrap="square" lIns="0" tIns="0" rIns="0" bIns="0" rtlCol="0" anchor="t">
            <a:spAutoFit/>
          </a:bodyPr>
          <a:lstStyle/>
          <a:p>
            <a:pPr>
              <a:lnSpc>
                <a:spcPts val="5900"/>
              </a:lnSpc>
            </a:pPr>
            <a:r>
              <a:rPr lang="en-US" sz="4800" dirty="0">
                <a:solidFill>
                  <a:schemeClr val="bg1"/>
                </a:solidFill>
                <a:latin typeface="SVN-Gilroy XBold" panose="00000900000000000000" pitchFamily="50" charset="0"/>
              </a:rPr>
              <a:t>DỰ ÁN CÔNG NGHỆ THÔNG TIN </a:t>
            </a:r>
          </a:p>
        </p:txBody>
      </p:sp>
      <p:sp>
        <p:nvSpPr>
          <p:cNvPr id="51" name="TextBox 61">
            <a:extLst>
              <a:ext uri="{FF2B5EF4-FFF2-40B4-BE49-F238E27FC236}">
                <a16:creationId xmlns:a16="http://schemas.microsoft.com/office/drawing/2014/main" id="{22A9F62E-1C19-EAB8-7EF1-669868BF5F4F}"/>
              </a:ext>
            </a:extLst>
          </p:cNvPr>
          <p:cNvSpPr txBox="1"/>
          <p:nvPr/>
        </p:nvSpPr>
        <p:spPr>
          <a:xfrm>
            <a:off x="1230630" y="3175000"/>
            <a:ext cx="15167610" cy="1513235"/>
          </a:xfrm>
          <a:prstGeom prst="rect">
            <a:avLst/>
          </a:prstGeom>
        </p:spPr>
        <p:txBody>
          <a:bodyPr wrap="square" lIns="0" tIns="0" rIns="0" bIns="0" rtlCol="0" anchor="t">
            <a:spAutoFit/>
          </a:bodyPr>
          <a:lstStyle/>
          <a:p>
            <a:pPr>
              <a:lnSpc>
                <a:spcPts val="5900"/>
              </a:lnSpc>
            </a:pPr>
            <a:r>
              <a:rPr lang="en-US" sz="4600" b="1" dirty="0">
                <a:solidFill>
                  <a:schemeClr val="bg1"/>
                </a:solidFill>
                <a:latin typeface="SVN-Gilroy" panose="00000500000000000000" pitchFamily="50" charset="0"/>
              </a:rPr>
              <a:t>Đề </a:t>
            </a:r>
            <a:r>
              <a:rPr lang="en-US" sz="4600" b="1" dirty="0" err="1">
                <a:solidFill>
                  <a:schemeClr val="bg1"/>
                </a:solidFill>
                <a:latin typeface="SVN-Gilroy" panose="00000500000000000000" pitchFamily="50" charset="0"/>
              </a:rPr>
              <a:t>tài</a:t>
            </a:r>
            <a:r>
              <a:rPr lang="en-US" sz="4600" b="1" dirty="0">
                <a:solidFill>
                  <a:schemeClr val="bg1"/>
                </a:solidFill>
                <a:latin typeface="SVN-Gilroy" panose="00000500000000000000" pitchFamily="50" charset="0"/>
              </a:rPr>
              <a:t>: Dự </a:t>
            </a:r>
            <a:r>
              <a:rPr lang="en-US" sz="4600" b="1" dirty="0" err="1">
                <a:solidFill>
                  <a:schemeClr val="bg1"/>
                </a:solidFill>
                <a:latin typeface="SVN-Gilroy" panose="00000500000000000000" pitchFamily="50" charset="0"/>
              </a:rPr>
              <a:t>Đoán</a:t>
            </a:r>
            <a:r>
              <a:rPr lang="en-US" sz="4600" b="1" dirty="0">
                <a:solidFill>
                  <a:schemeClr val="bg1"/>
                </a:solidFill>
                <a:latin typeface="SVN-Gilroy" panose="00000500000000000000" pitchFamily="50" charset="0"/>
              </a:rPr>
              <a:t> </a:t>
            </a:r>
            <a:r>
              <a:rPr lang="en-US" sz="4600" b="1" dirty="0" err="1">
                <a:solidFill>
                  <a:schemeClr val="bg1"/>
                </a:solidFill>
                <a:latin typeface="SVN-Gilroy" panose="00000500000000000000" pitchFamily="50" charset="0"/>
              </a:rPr>
              <a:t>Giá</a:t>
            </a:r>
            <a:r>
              <a:rPr lang="en-US" sz="4600" b="1" dirty="0">
                <a:solidFill>
                  <a:schemeClr val="bg1"/>
                </a:solidFill>
                <a:latin typeface="SVN-Gilroy" panose="00000500000000000000" pitchFamily="50" charset="0"/>
              </a:rPr>
              <a:t> </a:t>
            </a:r>
            <a:r>
              <a:rPr lang="en-US" sz="4600" b="1" dirty="0" err="1">
                <a:solidFill>
                  <a:schemeClr val="bg1"/>
                </a:solidFill>
                <a:latin typeface="SVN-Gilroy" panose="00000500000000000000" pitchFamily="50" charset="0"/>
              </a:rPr>
              <a:t>Chứng</a:t>
            </a:r>
            <a:r>
              <a:rPr lang="en-US" sz="4600" b="1" dirty="0">
                <a:solidFill>
                  <a:schemeClr val="bg1"/>
                </a:solidFill>
                <a:latin typeface="SVN-Gilroy" panose="00000500000000000000" pitchFamily="50" charset="0"/>
              </a:rPr>
              <a:t> </a:t>
            </a:r>
            <a:r>
              <a:rPr lang="en-US" sz="4600" b="1" dirty="0" err="1">
                <a:solidFill>
                  <a:schemeClr val="bg1"/>
                </a:solidFill>
                <a:latin typeface="SVN-Gilroy" panose="00000500000000000000" pitchFamily="50" charset="0"/>
              </a:rPr>
              <a:t>Khoán</a:t>
            </a:r>
            <a:r>
              <a:rPr lang="en-US" sz="4600" b="1" dirty="0">
                <a:solidFill>
                  <a:schemeClr val="bg1"/>
                </a:solidFill>
                <a:latin typeface="SVN-Gilroy" panose="00000500000000000000" pitchFamily="50" charset="0"/>
              </a:rPr>
              <a:t> </a:t>
            </a:r>
            <a:r>
              <a:rPr lang="en-US" sz="4600" b="1" dirty="0" err="1">
                <a:solidFill>
                  <a:schemeClr val="bg1"/>
                </a:solidFill>
                <a:latin typeface="SVN-Gilroy" panose="00000500000000000000" pitchFamily="50" charset="0"/>
              </a:rPr>
              <a:t>Bằng</a:t>
            </a:r>
            <a:r>
              <a:rPr lang="en-US" sz="4600" b="1" dirty="0">
                <a:solidFill>
                  <a:schemeClr val="bg1"/>
                </a:solidFill>
                <a:latin typeface="SVN-Gilroy" panose="00000500000000000000" pitchFamily="50" charset="0"/>
              </a:rPr>
              <a:t> Cách Kết Hợp Kết </a:t>
            </a:r>
            <a:r>
              <a:rPr lang="en-US" sz="4600" b="1" dirty="0" err="1">
                <a:solidFill>
                  <a:schemeClr val="bg1"/>
                </a:solidFill>
                <a:latin typeface="SVN-Gilroy" panose="00000500000000000000" pitchFamily="50" charset="0"/>
              </a:rPr>
              <a:t>Quả</a:t>
            </a:r>
            <a:r>
              <a:rPr lang="en-US" sz="4600" b="1" dirty="0">
                <a:solidFill>
                  <a:schemeClr val="bg1"/>
                </a:solidFill>
                <a:latin typeface="SVN-Gilroy" panose="00000500000000000000" pitchFamily="50" charset="0"/>
              </a:rPr>
              <a:t> Của Các </a:t>
            </a:r>
            <a:r>
              <a:rPr lang="en-US" sz="4600" b="1" dirty="0" err="1">
                <a:solidFill>
                  <a:schemeClr val="bg1"/>
                </a:solidFill>
                <a:latin typeface="SVN-Gilroy" panose="00000500000000000000" pitchFamily="50" charset="0"/>
              </a:rPr>
              <a:t>Mô</a:t>
            </a:r>
            <a:r>
              <a:rPr lang="en-US" sz="4600" b="1" dirty="0">
                <a:solidFill>
                  <a:schemeClr val="bg1"/>
                </a:solidFill>
                <a:latin typeface="SVN-Gilroy" panose="00000500000000000000" pitchFamily="50" charset="0"/>
              </a:rPr>
              <a:t> </a:t>
            </a:r>
            <a:r>
              <a:rPr lang="en-US" sz="4600" b="1" dirty="0" err="1">
                <a:solidFill>
                  <a:schemeClr val="bg1"/>
                </a:solidFill>
                <a:latin typeface="SVN-Gilroy" panose="00000500000000000000" pitchFamily="50" charset="0"/>
              </a:rPr>
              <a:t>Hình</a:t>
            </a:r>
            <a:r>
              <a:rPr lang="en-US" sz="4600" b="1" dirty="0">
                <a:solidFill>
                  <a:schemeClr val="bg1"/>
                </a:solidFill>
                <a:latin typeface="SVN-Gilroy" panose="00000500000000000000" pitchFamily="50" charset="0"/>
              </a:rPr>
              <a:t> Học Máy</a:t>
            </a:r>
          </a:p>
        </p:txBody>
      </p:sp>
      <p:sp>
        <p:nvSpPr>
          <p:cNvPr id="53" name="TextBox 61">
            <a:extLst>
              <a:ext uri="{FF2B5EF4-FFF2-40B4-BE49-F238E27FC236}">
                <a16:creationId xmlns:a16="http://schemas.microsoft.com/office/drawing/2014/main" id="{4B8B1A7E-64CB-EE78-F2E7-700E001C65C8}"/>
              </a:ext>
            </a:extLst>
          </p:cNvPr>
          <p:cNvSpPr txBox="1"/>
          <p:nvPr/>
        </p:nvSpPr>
        <p:spPr>
          <a:xfrm>
            <a:off x="1206610" y="5085383"/>
            <a:ext cx="15167610" cy="684418"/>
          </a:xfrm>
          <a:prstGeom prst="rect">
            <a:avLst/>
          </a:prstGeom>
        </p:spPr>
        <p:txBody>
          <a:bodyPr wrap="square" lIns="0" tIns="0" rIns="0" bIns="0" rtlCol="0" anchor="t">
            <a:spAutoFit/>
          </a:bodyPr>
          <a:lstStyle/>
          <a:p>
            <a:pPr>
              <a:lnSpc>
                <a:spcPts val="5900"/>
              </a:lnSpc>
            </a:pPr>
            <a:r>
              <a:rPr lang="vi-VN" sz="4000" i="1" dirty="0">
                <a:solidFill>
                  <a:schemeClr val="bg1"/>
                </a:solidFill>
                <a:latin typeface="SVN-Gilroy" panose="00000500000000000000" pitchFamily="50" charset="0"/>
              </a:rPr>
              <a:t>Nguyễn Ngọc Thắng</a:t>
            </a:r>
            <a:r>
              <a:rPr lang="vi-VN" sz="4000" i="1" baseline="30000" dirty="0">
                <a:solidFill>
                  <a:schemeClr val="bg1"/>
                </a:solidFill>
                <a:latin typeface="SVN-Gilroy" panose="00000500000000000000" pitchFamily="50" charset="0"/>
              </a:rPr>
              <a:t>1</a:t>
            </a:r>
            <a:r>
              <a:rPr lang="vi-VN" sz="4000" i="1" dirty="0">
                <a:solidFill>
                  <a:schemeClr val="bg1"/>
                </a:solidFill>
                <a:latin typeface="SVN-Gilroy" panose="00000500000000000000" pitchFamily="50" charset="0"/>
              </a:rPr>
              <a:t>, Nguyễn Phương Ngân</a:t>
            </a:r>
            <a:r>
              <a:rPr lang="vi-VN" sz="4000" i="1" baseline="30000" dirty="0">
                <a:solidFill>
                  <a:schemeClr val="bg1"/>
                </a:solidFill>
                <a:latin typeface="SVN-Gilroy" panose="00000500000000000000" pitchFamily="50" charset="0"/>
              </a:rPr>
              <a:t>2</a:t>
            </a:r>
            <a:r>
              <a:rPr lang="vi-VN" sz="4000" i="1" dirty="0">
                <a:solidFill>
                  <a:schemeClr val="bg1"/>
                </a:solidFill>
                <a:latin typeface="SVN-Gilroy" panose="00000500000000000000" pitchFamily="50" charset="0"/>
              </a:rPr>
              <a:t>, Trịnh Hùng Cường</a:t>
            </a:r>
            <a:r>
              <a:rPr lang="vi-VN" sz="4000" i="1" baseline="30000" dirty="0">
                <a:solidFill>
                  <a:schemeClr val="bg1"/>
                </a:solidFill>
                <a:latin typeface="SVN-Gilroy" panose="00000500000000000000" pitchFamily="50" charset="0"/>
              </a:rPr>
              <a:t>*</a:t>
            </a:r>
            <a:r>
              <a:rPr lang="vi-VN" sz="4000" i="1" dirty="0">
                <a:solidFill>
                  <a:schemeClr val="bg1"/>
                </a:solidFill>
                <a:latin typeface="SVN-Gilroy" panose="00000500000000000000" pitchFamily="50" charset="0"/>
              </a:rPr>
              <a:t> </a:t>
            </a:r>
          </a:p>
        </p:txBody>
      </p:sp>
      <p:sp>
        <p:nvSpPr>
          <p:cNvPr id="2" name="TextBox 61">
            <a:extLst>
              <a:ext uri="{FF2B5EF4-FFF2-40B4-BE49-F238E27FC236}">
                <a16:creationId xmlns:a16="http://schemas.microsoft.com/office/drawing/2014/main" id="{F33B20A4-1FB8-B4BA-5EDF-5F41AA8FE9C1}"/>
              </a:ext>
            </a:extLst>
          </p:cNvPr>
          <p:cNvSpPr txBox="1"/>
          <p:nvPr/>
        </p:nvSpPr>
        <p:spPr>
          <a:xfrm>
            <a:off x="1206610" y="6203073"/>
            <a:ext cx="15704820" cy="430887"/>
          </a:xfrm>
          <a:prstGeom prst="rect">
            <a:avLst/>
          </a:prstGeom>
        </p:spPr>
        <p:txBody>
          <a:bodyPr wrap="square" lIns="0" tIns="0" rIns="0" bIns="0" rtlCol="0" anchor="t">
            <a:spAutoFit/>
          </a:bodyPr>
          <a:lstStyle/>
          <a:p>
            <a:r>
              <a:rPr lang="vi-VN" sz="2800" i="1" baseline="30000">
                <a:solidFill>
                  <a:schemeClr val="bg1"/>
                </a:solidFill>
                <a:latin typeface="SVN-Gilroy" panose="00000500000000000000" pitchFamily="50" charset="0"/>
              </a:rPr>
              <a:t>1 </a:t>
            </a:r>
            <a:r>
              <a:rPr lang="vi-VN" sz="2800" i="1">
                <a:solidFill>
                  <a:schemeClr val="bg1"/>
                </a:solidFill>
                <a:latin typeface="SVN-Gilroy" panose="00000500000000000000" pitchFamily="50" charset="0"/>
              </a:rPr>
              <a:t>Sinh viên ngành Khoa học Máy tính, </a:t>
            </a:r>
            <a:r>
              <a:rPr lang="vi-VN" sz="2800" i="1" baseline="30000">
                <a:solidFill>
                  <a:schemeClr val="bg1"/>
                </a:solidFill>
                <a:latin typeface="SVN-Gilroy" panose="00000500000000000000" pitchFamily="50" charset="0"/>
              </a:rPr>
              <a:t>*</a:t>
            </a:r>
            <a:r>
              <a:rPr lang="vi-VN" sz="2800" i="1">
                <a:solidFill>
                  <a:schemeClr val="bg1"/>
                </a:solidFill>
                <a:latin typeface="SVN-Gilroy" panose="00000500000000000000" pitchFamily="50" charset="0"/>
              </a:rPr>
              <a:t>GVHD Khoa Công nghệ thông tin </a:t>
            </a:r>
          </a:p>
        </p:txBody>
      </p:sp>
      <p:graphicFrame>
        <p:nvGraphicFramePr>
          <p:cNvPr id="3" name="Table 2"/>
          <p:cNvGraphicFramePr>
            <a:graphicFrameLocks noGrp="1"/>
          </p:cNvGraphicFramePr>
          <p:nvPr>
            <p:extLst>
              <p:ext uri="{D42A27DB-BD31-4B8C-83A1-F6EECF244321}">
                <p14:modId xmlns:p14="http://schemas.microsoft.com/office/powerpoint/2010/main" val="3234334288"/>
              </p:ext>
            </p:extLst>
          </p:nvPr>
        </p:nvGraphicFramePr>
        <p:xfrm>
          <a:off x="1934320" y="7899401"/>
          <a:ext cx="17515730" cy="18347117"/>
        </p:xfrm>
        <a:graphic>
          <a:graphicData uri="http://schemas.openxmlformats.org/drawingml/2006/table">
            <a:tbl>
              <a:tblPr firstRow="1" bandRow="1">
                <a:tableStyleId>{5C22544A-7EE6-4342-B048-85BDC9FD1C3A}</a:tableStyleId>
              </a:tblPr>
              <a:tblGrid>
                <a:gridCol w="8757865">
                  <a:extLst>
                    <a:ext uri="{9D8B030D-6E8A-4147-A177-3AD203B41FA5}">
                      <a16:colId xmlns:a16="http://schemas.microsoft.com/office/drawing/2014/main" val="20000"/>
                    </a:ext>
                  </a:extLst>
                </a:gridCol>
                <a:gridCol w="8757865">
                  <a:extLst>
                    <a:ext uri="{9D8B030D-6E8A-4147-A177-3AD203B41FA5}">
                      <a16:colId xmlns:a16="http://schemas.microsoft.com/office/drawing/2014/main" val="20001"/>
                    </a:ext>
                  </a:extLst>
                </a:gridCol>
              </a:tblGrid>
              <a:tr h="7619999">
                <a:tc>
                  <a:txBody>
                    <a:bodyPr/>
                    <a:lstStyle/>
                    <a:p>
                      <a:r>
                        <a:rPr lang="vi-VN" sz="2800" dirty="0">
                          <a:solidFill>
                            <a:srgbClr val="0070C0"/>
                          </a:solidFill>
                          <a:latin typeface="SVN-Gilroy"/>
                        </a:rPr>
                        <a:t>TÓM TẮT</a:t>
                      </a:r>
                    </a:p>
                    <a:p>
                      <a:endParaRPr lang="vi-VN" sz="2800" dirty="0">
                        <a:solidFill>
                          <a:schemeClr val="tx1"/>
                        </a:solidFill>
                        <a:latin typeface="SVN-Gilroy"/>
                      </a:endParaRPr>
                    </a:p>
                    <a:p>
                      <a:pPr algn="just"/>
                      <a:r>
                        <a:rPr lang="vi-VN" sz="2800" dirty="0">
                          <a:solidFill>
                            <a:schemeClr val="tx1"/>
                          </a:solidFill>
                          <a:latin typeface="SVN-Gilroy"/>
                        </a:rPr>
                        <a:t>Dự đoán giá chứng khoán đã trở thành một lĩnh vực quan trọng trong tài chính.</a:t>
                      </a:r>
                      <a:r>
                        <a:rPr lang="en-US" sz="2800" baseline="0" dirty="0">
                          <a:solidFill>
                            <a:schemeClr val="tx1"/>
                          </a:solidFill>
                          <a:latin typeface="SVN-Gilroy"/>
                        </a:rPr>
                        <a:t> </a:t>
                      </a:r>
                      <a:r>
                        <a:rPr lang="vi-VN" sz="2800" baseline="0" dirty="0">
                          <a:solidFill>
                            <a:schemeClr val="tx1"/>
                          </a:solidFill>
                          <a:latin typeface="SVN-Gilroy"/>
                        </a:rPr>
                        <a:t>Đề tài </a:t>
                      </a:r>
                      <a:r>
                        <a:rPr lang="vi-VN" sz="2800" dirty="0">
                          <a:solidFill>
                            <a:schemeClr val="tx1"/>
                          </a:solidFill>
                          <a:latin typeface="SVN-Gilroy"/>
                        </a:rPr>
                        <a:t>thu thập giá chứng khoán, chỉ số thị trường, và các thông tin tài chính quan trọng khác trong vòng 10 năm từ 02/01/2013 đến 09/06/2023 của các mã: FPT, HPG, VNM, VIC, CTD. Đa dạng các mô hình học máy như Linear Regression, Support Vector Machines, và Neural Networks được xây dựng. Tuy nhiên, điểm độc đáo của đề tài nằm ở việc kết hợp kết quả từ các mô hình khác nhau để tạo ra dự báo cuối cùng. Kết quả dự báo cuối cùng này có thể cung cấp một cái nhìn tổng quan về khả năng biến động của thị trường và giúp nhà đầu tư và người quản lý tài sản đưa ra các quyết định đúng đắn.</a:t>
                      </a:r>
                    </a:p>
                  </a:txBody>
                  <a:tcPr marL="274320" marR="27432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vi-VN" sz="2800">
                          <a:solidFill>
                            <a:srgbClr val="0070C0"/>
                          </a:solidFill>
                          <a:latin typeface="SVN-Gilroy"/>
                        </a:rPr>
                        <a:t>DỮ LIỆU MÃ CỔ PHIẾU</a:t>
                      </a:r>
                    </a:p>
                    <a:p>
                      <a:endParaRPr lang="vi-VN" sz="2800">
                        <a:solidFill>
                          <a:schemeClr val="tx1"/>
                        </a:solidFill>
                        <a:latin typeface="SVN-Gilroy"/>
                      </a:endParaRPr>
                    </a:p>
                    <a:p>
                      <a:endParaRPr lang="en-GB" sz="2800">
                        <a:solidFill>
                          <a:schemeClr val="tx1"/>
                        </a:solidFill>
                        <a:latin typeface="SVN-Gilroy"/>
                      </a:endParaRPr>
                    </a:p>
                  </a:txBody>
                  <a:tcPr marL="274320" marR="27432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267200">
                <a:tc>
                  <a:txBody>
                    <a:bodyPr/>
                    <a:lstStyle/>
                    <a:p>
                      <a:r>
                        <a:rPr lang="vi-VN" sz="2800" b="1" dirty="0">
                          <a:solidFill>
                            <a:srgbClr val="0070C0"/>
                          </a:solidFill>
                          <a:latin typeface="SVN-Gilroy"/>
                        </a:rPr>
                        <a:t>CÁC BƯỚC DỰ ĐOÁN</a:t>
                      </a:r>
                    </a:p>
                    <a:p>
                      <a:endParaRPr lang="vi-VN" sz="2800" b="1" dirty="0">
                        <a:solidFill>
                          <a:schemeClr val="tx1"/>
                        </a:solidFill>
                        <a:latin typeface="SVN-Gilroy"/>
                      </a:endParaRPr>
                    </a:p>
                    <a:p>
                      <a:pPr marL="514350" indent="-514350">
                        <a:buAutoNum type="arabicPeriod"/>
                      </a:pPr>
                      <a:r>
                        <a:rPr lang="vi-VN" sz="2800" b="1" dirty="0">
                          <a:solidFill>
                            <a:schemeClr val="tx1"/>
                          </a:solidFill>
                          <a:latin typeface="SVN-Gilroy"/>
                        </a:rPr>
                        <a:t>Tiền xử lý dữ liệu:</a:t>
                      </a:r>
                      <a:r>
                        <a:rPr lang="vi-VN" sz="2800" b="1" baseline="0" dirty="0">
                          <a:solidFill>
                            <a:schemeClr val="tx1"/>
                          </a:solidFill>
                          <a:latin typeface="SVN-Gilroy"/>
                        </a:rPr>
                        <a:t> lọc nhiễu, dữ liệu thiếu, chuẩn hóa</a:t>
                      </a:r>
                      <a:endParaRPr lang="vi-VN" sz="2800" b="1" dirty="0">
                        <a:solidFill>
                          <a:schemeClr val="tx1"/>
                        </a:solidFill>
                        <a:latin typeface="SVN-Gilroy"/>
                      </a:endParaRPr>
                    </a:p>
                    <a:p>
                      <a:pPr marL="514350" indent="-514350">
                        <a:buAutoNum type="arabicPeriod"/>
                      </a:pPr>
                      <a:r>
                        <a:rPr lang="vi-VN" sz="2800" b="1" dirty="0">
                          <a:solidFill>
                            <a:schemeClr val="tx1"/>
                          </a:solidFill>
                          <a:latin typeface="SVN-Gilroy"/>
                        </a:rPr>
                        <a:t>Lựa chọn các các đặc trưng phù hợp </a:t>
                      </a:r>
                    </a:p>
                    <a:p>
                      <a:pPr marL="514350" indent="-514350">
                        <a:buAutoNum type="arabicPeriod"/>
                      </a:pPr>
                      <a:r>
                        <a:rPr lang="vi-VN" sz="2800" b="1" dirty="0">
                          <a:solidFill>
                            <a:schemeClr val="tx1"/>
                          </a:solidFill>
                          <a:latin typeface="SVN-Gilroy"/>
                        </a:rPr>
                        <a:t>Huấn luyện các mô hình cơ bản</a:t>
                      </a:r>
                    </a:p>
                    <a:p>
                      <a:pPr marL="514350" indent="-514350">
                        <a:buAutoNum type="arabicPeriod"/>
                      </a:pPr>
                      <a:r>
                        <a:rPr lang="vi-VN" sz="2800" b="1" dirty="0">
                          <a:solidFill>
                            <a:schemeClr val="tx1"/>
                          </a:solidFill>
                          <a:latin typeface="SVN-Gilroy"/>
                        </a:rPr>
                        <a:t>Áp dụng StackingRegressor để kết hợp kết quả của các mô hình cơ bản</a:t>
                      </a:r>
                    </a:p>
                    <a:p>
                      <a:pPr marL="514350" indent="-514350">
                        <a:buAutoNum type="arabicPeriod"/>
                      </a:pPr>
                      <a:r>
                        <a:rPr lang="vi-VN" sz="2800" b="1" dirty="0">
                          <a:solidFill>
                            <a:schemeClr val="tx1"/>
                          </a:solidFill>
                          <a:latin typeface="SVN-Gilroy"/>
                        </a:rPr>
                        <a:t>Dự đoán dữ liệu mới</a:t>
                      </a:r>
                      <a:endParaRPr lang="en-GB" sz="2800" b="1" dirty="0">
                        <a:solidFill>
                          <a:schemeClr val="tx1"/>
                        </a:solidFill>
                        <a:latin typeface="SVN-Gilroy"/>
                      </a:endParaRPr>
                    </a:p>
                  </a:txBody>
                  <a:tcPr marL="274320" marR="27432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2800" b="1">
                          <a:solidFill>
                            <a:srgbClr val="0070C0"/>
                          </a:solidFill>
                          <a:latin typeface="SVN-Gilroy"/>
                        </a:rPr>
                        <a:t>KẾT QUẢ TỔNG HỢP</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2800" b="1">
                        <a:solidFill>
                          <a:schemeClr val="tx1"/>
                        </a:solidFill>
                        <a:latin typeface="SVN-Gilroy"/>
                      </a:endParaRPr>
                    </a:p>
                  </a:txBody>
                  <a:tcPr marL="274320" marR="27432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229959">
                <a:tc>
                  <a:txBody>
                    <a:bodyPr/>
                    <a:lstStyle/>
                    <a:p>
                      <a:r>
                        <a:rPr lang="vi-VN" sz="2800" b="1">
                          <a:solidFill>
                            <a:srgbClr val="0070C0"/>
                          </a:solidFill>
                          <a:latin typeface="SVN-Gilroy"/>
                        </a:rPr>
                        <a:t>KẾT QUẢ MÔ HÌNH STACKINGREGRESSOR</a:t>
                      </a:r>
                      <a:endParaRPr lang="en-GB" sz="2800" b="1">
                        <a:solidFill>
                          <a:srgbClr val="0070C0"/>
                        </a:solidFill>
                        <a:latin typeface="SVN-Gilroy"/>
                      </a:endParaRPr>
                    </a:p>
                  </a:txBody>
                  <a:tcPr marL="274320" marR="27432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2800">
                        <a:solidFill>
                          <a:schemeClr val="tx1"/>
                        </a:solidFill>
                        <a:latin typeface="SVN-Gilroy"/>
                      </a:endParaRPr>
                    </a:p>
                  </a:txBody>
                  <a:tcPr marL="274320" marR="27432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229959">
                <a:tc>
                  <a:txBody>
                    <a:bodyPr/>
                    <a:lstStyle/>
                    <a:p>
                      <a:endParaRPr lang="en-GB" sz="2800" dirty="0">
                        <a:solidFill>
                          <a:schemeClr val="tx1"/>
                        </a:solidFill>
                        <a:latin typeface="SVN-Gilroy"/>
                      </a:endParaRPr>
                    </a:p>
                  </a:txBody>
                  <a:tcPr marL="274320" marR="27432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2800" dirty="0">
                        <a:solidFill>
                          <a:schemeClr val="tx1"/>
                        </a:solidFill>
                        <a:latin typeface="SVN-Gilroy"/>
                      </a:endParaRPr>
                    </a:p>
                  </a:txBody>
                  <a:tcPr marL="274320" marR="27432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91850" y="8585201"/>
            <a:ext cx="8321040" cy="6663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5199" y="20548600"/>
            <a:ext cx="13423703" cy="6949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03356" y="16205199"/>
            <a:ext cx="8141299" cy="4663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a:extLst>
              <a:ext uri="{FF2B5EF4-FFF2-40B4-BE49-F238E27FC236}">
                <a16:creationId xmlns:a16="http://schemas.microsoft.com/office/drawing/2014/main" id="{65936978-E737-9252-72E0-A8EA208883D0}"/>
              </a:ext>
            </a:extLst>
          </p:cNvPr>
          <p:cNvPicPr>
            <a:picLocks noChangeAspect="1"/>
          </p:cNvPicPr>
          <p:nvPr/>
        </p:nvPicPr>
        <p:blipFill rotWithShape="1">
          <a:blip r:embed="rId7"/>
          <a:srcRect l="8840" t="10226" r="10373" b="10372"/>
          <a:stretch/>
        </p:blipFill>
        <p:spPr>
          <a:xfrm>
            <a:off x="17071596" y="3403600"/>
            <a:ext cx="2946118" cy="2895600"/>
          </a:xfrm>
          <a:prstGeom prst="rect">
            <a:avLst/>
          </a:prstGeom>
        </p:spPr>
      </p:pic>
    </p:spTree>
    <p:extLst>
      <p:ext uri="{BB962C8B-B14F-4D97-AF65-F5344CB8AC3E}">
        <p14:creationId xmlns:p14="http://schemas.microsoft.com/office/powerpoint/2010/main" val="3035334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TotalTime>
  <Words>384</Words>
  <Application>Microsoft Office PowerPoint</Application>
  <PresentationFormat>Custom</PresentationFormat>
  <Paragraphs>30</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SVN-Gilroy SemiBold</vt:lpstr>
      <vt:lpstr>SVN-Gilroy</vt:lpstr>
      <vt:lpstr>SVN-Gilroy XBold</vt:lpstr>
      <vt:lpstr>Calibri</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Poster triễn lãm NCKH_ALD</dc:title>
  <dc:creator/>
  <cp:lastModifiedBy>Tuyến Trần</cp:lastModifiedBy>
  <cp:revision>34</cp:revision>
  <dcterms:created xsi:type="dcterms:W3CDTF">2006-08-16T00:00:00Z</dcterms:created>
  <dcterms:modified xsi:type="dcterms:W3CDTF">2026-01-26T09:13:00Z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CCBE85ED5C844403B09966F179E09C30_13</vt:lpwstr>
  </property>
  <property fmtid="{D5CDD505-2E9C-101B-9397-08002B2CF9AE}" pid="3" name="KSOProductBuildVer">
    <vt:lpwstr>1033-12.2.0.13215</vt:lpwstr>
  </property>
</Properties>
</file>